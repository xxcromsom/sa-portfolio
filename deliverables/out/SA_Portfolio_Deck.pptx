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d52a83e-ac11-ff0b-6c27-be1d4a454222}">
          <p14:sldIdLst>
            <p14:sldId id="256"/>
          </p14:sldIdLst>
        </p14:section>
        <p14:section name="Analysis" id="{3f7ad85b-d6d2-51b4-fcc2-3d429c846987}">
          <p14:sldIdLst>
            <p14:sldId id="257"/>
            <p14:sldId id="258"/>
            <p14:sldId id="259"/>
            <p14:sldId id="260"/>
            <p14:sldId id="261"/>
          </p14:sldIdLst>
        </p14:section>
        <p14:section name="Portfolio" id="{edee6fa6-4362-276c-e54d-e4183da47cba}">
          <p14:sldIdLst>
            <p14:sldId id="262"/>
            <p14:sldId id="263"/>
          </p14:sldIdLst>
        </p14:section>
        <p14:section name="Close" id="{ca3d866c-ada8-592e-63a3-ceef03ee3b1c}">
          <p14:sldIdLst>
            <p14:sldId id="264"/>
          </p14:sldIdLst>
        </p14:section>
        <p14:section name="Appendix" id="{ec9b4dbf-43c5-aa9e-23ff-6dba0df21ad7}">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 in P</c:v>
                </c:pt>
              </c:strCache>
            </c:strRef>
          </c:tx>
          <c:spPr>
            <a:solidFill>
              <a:schemeClr val="accent1"/>
            </a:solidFill>
            <a:ln w="9525" cap="flat">
              <a:solidFill>
                <a:srgbClr val="F9F9F9"/>
              </a:solidFill>
              <a:prstDash val="solid"/>
              <a:round/>
            </a:ln>
            <a:effectLst/>
          </c:spPr>
          <c:dPt>
            <c:idx val="0"/>
            <c:bubble3D val="0"/>
            <c:spPr>
              <a:solidFill>
                <a:srgbClr val="3A7C74"/>
              </a:solidFill>
              <a:ln w="25400" cap="flat">
                <a:solidFill>
                  <a:srgbClr val="1D2C62"/>
                </a:solidFill>
                <a:prstDash val="solid"/>
                <a:round/>
              </a:ln>
              <a:effectLst/>
            </c:spPr>
          </c:dPt>
          <c:dPt>
            <c:idx val="1"/>
            <c:bubble3D val="0"/>
            <c:spPr>
              <a:solidFill>
                <a:srgbClr val="EBB24D"/>
              </a:solidFill>
              <a:ln w="25400" cap="flat">
                <a:solidFill>
                  <a:srgbClr val="1D2C62"/>
                </a:solidFill>
                <a:prstDash val="solid"/>
                <a:round/>
              </a:ln>
              <a:effectLst/>
            </c:spPr>
          </c:dPt>
          <c:dPt>
            <c:idx val="2"/>
            <c:bubble3D val="0"/>
            <c:spPr>
              <a:solidFill>
                <a:srgbClr val="C84D00"/>
              </a:solidFill>
              <a:ln w="25400" cap="flat">
                <a:solidFill>
                  <a:srgbClr val="1D2C62"/>
                </a:solidFill>
                <a:prstDash val="solid"/>
                <a:round/>
              </a:ln>
              <a:effectLst/>
            </c:spPr>
          </c:dPt>
          <c:dLbls>
            <c:dLbl>
              <c:idx val="0"/>
              <c:numFmt formatCode="0%" sourceLinked="0"/>
              <c:spPr/>
              <c:txPr>
                <a:bodyPr/>
                <a:lstStyle/>
                <a:p>
                  <a:pPr>
                    <a:defRPr sz="12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2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HUL</c:v>
                </c:pt>
                <c:pt idx="1">
                  <c:v>Sun Pharma</c:v>
                </c:pt>
                <c:pt idx="2">
                  <c:v>ICICI Bank</c:v>
                </c:pt>
              </c:strCache>
            </c:strRef>
          </c:cat>
          <c:val>
            <c:numRef>
              <c:f>Sheet1!$B$2:$B$4</c:f>
              <c:numCache>
                <c:ptCount val="3"/>
                <c:pt idx="0">
                  <c:v>0.30685972985808274</c:v>
                </c:pt>
                <c:pt idx="1">
                  <c:v>0.19248607535269438</c:v>
                </c:pt>
                <c:pt idx="2">
                  <c:v>0.500654194789223</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Price</c:v>
                </c:pt>
              </c:strCache>
            </c:strRef>
          </c:tx>
          <c:spPr>
            <a:solidFill>
              <a:srgbClr val="1D2C62"/>
            </a:solidFill>
            <a:effectLst/>
          </c:spPr>
          <c:invertIfNegative val="0"/>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Sheet1!$A$2:$A$4</c:f>
              <c:multiLvlStrCache>
                <c:ptCount val="3"/>
                <c:lvl>
                  <c:pt idx="0">
                    <c:v>HUL</c:v>
                  </c:pt>
                  <c:pt idx="1">
                    <c:v>Sun Pharma</c:v>
                  </c:pt>
                  <c:pt idx="2">
                    <c:v>ICICI Bank</c:v>
                  </c:pt>
                </c:lvl>
              </c:multiLvlStrCache>
            </c:multiLvlStrRef>
          </c:cat>
          <c:val>
            <c:numRef>
              <c:f>Sheet1!$B$2:$B$4</c:f>
              <c:numCache>
                <c:formatCode>General</c:formatCode>
                <c:ptCount val="3"/>
                <c:pt idx="0">
                  <c:v>1861.9</c:v>
                </c:pt>
                <c:pt idx="1">
                  <c:v>1759.8</c:v>
                </c:pt>
                <c:pt idx="2">
                  <c:v>1350.5</c:v>
                </c:pt>
              </c:numCache>
            </c:numRef>
          </c:val>
        </c:ser>
        <c:ser>
          <c:idx val="1"/>
          <c:order val="1"/>
          <c:tx>
            <c:strRef>
              <c:f>Sheet1!$C$1</c:f>
              <c:strCache>
                <c:ptCount val="1"/>
                <c:pt idx="0">
                  <c:v>Our model</c:v>
                </c:pt>
              </c:strCache>
            </c:strRef>
          </c:tx>
          <c:spPr>
            <a:solidFill>
              <a:srgbClr val="C84D00"/>
            </a:solidFill>
            <a:effectLst/>
          </c:spPr>
          <c:invertIfNegative val="0"/>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Sheet1!$A$2:$A$4</c:f>
              <c:multiLvlStrCache>
                <c:ptCount val="3"/>
                <c:lvl>
                  <c:pt idx="0">
                    <c:v>HUL</c:v>
                  </c:pt>
                  <c:pt idx="1">
                    <c:v>Sun Pharma</c:v>
                  </c:pt>
                  <c:pt idx="2">
                    <c:v>ICICI Bank</c:v>
                  </c:pt>
                </c:lvl>
              </c:multiLvlStrCache>
            </c:multiLvlStrRef>
          </c:cat>
          <c:val>
            <c:numRef>
              <c:f>Sheet1!$C$2:$C$4</c:f>
              <c:numCache>
                <c:formatCode>General</c:formatCode>
                <c:ptCount val="3"/>
                <c:pt idx="0">
                  <c:v>1079.12</c:v>
                </c:pt>
                <c:pt idx="1">
                  <c:v>747.63</c:v>
                </c:pt>
                <c:pt idx="2">
                  <c:v>574.65</c:v>
                </c:pt>
              </c:numCache>
            </c:numRef>
          </c:val>
        </c:ser>
        <c:ser>
          <c:idx val="2"/>
          <c:order val="2"/>
          <c:tx>
            <c:strRef>
              <c:f>Sheet1!$D$1</c:f>
              <c:strCache>
                <c:ptCount val="1"/>
                <c:pt idx="0">
                  <c:v>Peer multiples</c:v>
                </c:pt>
              </c:strCache>
            </c:strRef>
          </c:tx>
          <c:spPr>
            <a:solidFill>
              <a:srgbClr val="EBB24D"/>
            </a:solidFill>
            <a:effectLst/>
          </c:spPr>
          <c:invertIfNegative val="0"/>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Sheet1!$A$2:$A$4</c:f>
              <c:multiLvlStrCache>
                <c:ptCount val="3"/>
                <c:lvl>
                  <c:pt idx="0">
                    <c:v>HUL</c:v>
                  </c:pt>
                  <c:pt idx="1">
                    <c:v>Sun Pharma</c:v>
                  </c:pt>
                  <c:pt idx="2">
                    <c:v>ICICI Bank</c:v>
                  </c:pt>
                </c:lvl>
              </c:multiLvlStrCache>
            </c:multiLvlStrRef>
          </c:cat>
          <c:val>
            <c:numRef>
              <c:f>Sheet1!$D$2:$D$4</c:f>
              <c:numCache>
                <c:formatCode>General</c:formatCode>
                <c:ptCount val="3"/>
                <c:pt idx="0">
                  <c:v>2104.76</c:v>
                </c:pt>
                <c:pt idx="1">
                  <c:v>1701.84</c:v>
                </c:pt>
                <c:pt idx="2">
                  <c:v>1139.04</c:v>
                </c:pt>
              </c:numCache>
            </c:numRef>
          </c:val>
        </c:ser>
        <c:ser>
          <c:idx val="3"/>
          <c:order val="3"/>
          <c:tx>
            <c:strRef>
              <c:f>Sheet1!$E$1</c:f>
              <c:strCache>
                <c:ptCount val="1"/>
                <c:pt idx="0">
                  <c:v>Analyst mean target</c:v>
                </c:pt>
              </c:strCache>
            </c:strRef>
          </c:tx>
          <c:spPr>
            <a:solidFill>
              <a:srgbClr val="3A7C74"/>
            </a:solidFill>
            <a:effectLst/>
          </c:spPr>
          <c:invertIfNegative val="0"/>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Sheet1!$A$2:$A$4</c:f>
              <c:multiLvlStrCache>
                <c:ptCount val="3"/>
                <c:lvl>
                  <c:pt idx="0">
                    <c:v>HUL</c:v>
                  </c:pt>
                  <c:pt idx="1">
                    <c:v>Sun Pharma</c:v>
                  </c:pt>
                  <c:pt idx="2">
                    <c:v>ICICI Bank</c:v>
                  </c:pt>
                </c:lvl>
              </c:multiLvlStrCache>
            </c:multiLvlStrRef>
          </c:cat>
          <c:val>
            <c:numRef>
              <c:f>Sheet1!$E$2:$E$4</c:f>
              <c:numCache>
                <c:formatCode>General</c:formatCode>
                <c:ptCount val="3"/>
                <c:pt idx="0">
                  <c:v>2395.6843</c:v>
                </c:pt>
                <c:pt idx="1">
                  <c:v>2174.3438</c:v>
                </c:pt>
                <c:pt idx="2">
                  <c:v>1746.7382</c:v>
                </c:pt>
              </c:numCache>
            </c:numRef>
          </c:val>
        </c:ser>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CBB0"/>
            </a:solidFill>
            <a:prstDash val="solid"/>
            <a:round/>
          </a:ln>
        </c:spPr>
        <c:txPr>
          <a:bodyPr/>
          <a:lstStyle/>
          <a:p>
            <a:pPr>
              <a:defRPr sz="1200" b="0" i="0" u="none" strike="noStrike">
                <a:solidFill>
                  <a:srgbClr val="1D2C62"/>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D2C6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Buy and hold</c:v>
                </c:pt>
              </c:strCache>
            </c:strRef>
          </c:tx>
          <c:spPr>
            <a:solidFill>
              <a:srgbClr val="1D2C62"/>
            </a:solidFill>
            <a:effectLst/>
          </c:spPr>
          <c:invertIfNegative val="0"/>
          <c:dLbls>
            <c:numFmt formatCode="0.0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Sheet1!$A$2:$A$5</c:f>
              <c:multiLvlStrCache>
                <c:ptCount val="4"/>
                <c:lvl>
                  <c:pt idx="0">
                    <c:v>HUL</c:v>
                  </c:pt>
                  <c:pt idx="1">
                    <c:v>Sun Pharma</c:v>
                  </c:pt>
                  <c:pt idx="2">
                    <c:v>ICICI Bank</c:v>
                  </c:pt>
                  <c:pt idx="3">
                    <c:v>Nifty 50</c:v>
                  </c:pt>
                </c:lvl>
              </c:multiLvlStrCache>
            </c:multiLvlStrRef>
          </c:cat>
          <c:val>
            <c:numRef>
              <c:f>Sheet1!$B$2:$B$5</c:f>
              <c:numCache>
                <c:formatCode>General</c:formatCode>
                <c:ptCount val="4"/>
                <c:pt idx="0">
                  <c:v>0.3189</c:v>
                </c:pt>
                <c:pt idx="1">
                  <c:v>0.2942</c:v>
                </c:pt>
                <c:pt idx="2">
                  <c:v>0.5649</c:v>
                </c:pt>
                <c:pt idx="3">
                  <c:v>0.3585</c:v>
                </c:pt>
              </c:numCache>
            </c:numRef>
          </c:val>
        </c:ser>
        <c:ser>
          <c:idx val="1"/>
          <c:order val="1"/>
          <c:tx>
            <c:strRef>
              <c:f>Sheet1!$C$1</c:f>
              <c:strCache>
                <c:ptCount val="1"/>
                <c:pt idx="0">
                  <c:v>Trend: 50/200-day average</c:v>
                </c:pt>
              </c:strCache>
            </c:strRef>
          </c:tx>
          <c:spPr>
            <a:solidFill>
              <a:srgbClr val="EBB24D"/>
            </a:solidFill>
            <a:effectLst/>
          </c:spPr>
          <c:invertIfNegative val="0"/>
          <c:dLbls>
            <c:numFmt formatCode="0.0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Sheet1!$A$2:$A$5</c:f>
              <c:multiLvlStrCache>
                <c:ptCount val="4"/>
                <c:lvl>
                  <c:pt idx="0">
                    <c:v>HUL</c:v>
                  </c:pt>
                  <c:pt idx="1">
                    <c:v>Sun Pharma</c:v>
                  </c:pt>
                  <c:pt idx="2">
                    <c:v>ICICI Bank</c:v>
                  </c:pt>
                  <c:pt idx="3">
                    <c:v>Nifty 50</c:v>
                  </c:pt>
                </c:lvl>
              </c:multiLvlStrCache>
            </c:multiLvlStrRef>
          </c:cat>
          <c:val>
            <c:numRef>
              <c:f>Sheet1!$C$2:$C$5</c:f>
              <c:numCache>
                <c:formatCode>General</c:formatCode>
                <c:ptCount val="4"/>
                <c:pt idx="0">
                  <c:v>0.2162</c:v>
                </c:pt>
                <c:pt idx="1">
                  <c:v>0.2645</c:v>
                </c:pt>
                <c:pt idx="2">
                  <c:v>0.3326</c:v>
                </c:pt>
                <c:pt idx="3">
                  <c:v>-0.0047</c:v>
                </c:pt>
              </c:numCache>
            </c:numRef>
          </c:val>
        </c:ser>
        <c:ser>
          <c:idx val="2"/>
          <c:order val="2"/>
          <c:tx>
            <c:strRef>
              <c:f>Sheet1!$D$1</c:f>
              <c:strCache>
                <c:ptCount val="1"/>
                <c:pt idx="0">
                  <c:v>RSI mean reversion</c:v>
                </c:pt>
              </c:strCache>
            </c:strRef>
          </c:tx>
          <c:spPr>
            <a:solidFill>
              <a:srgbClr val="B95142"/>
            </a:solidFill>
            <a:effectLst/>
          </c:spPr>
          <c:invertIfNegative val="0"/>
          <c:dLbls>
            <c:numFmt formatCode="0.0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Sheet1!$A$2:$A$5</c:f>
              <c:multiLvlStrCache>
                <c:ptCount val="4"/>
                <c:lvl>
                  <c:pt idx="0">
                    <c:v>HUL</c:v>
                  </c:pt>
                  <c:pt idx="1">
                    <c:v>Sun Pharma</c:v>
                  </c:pt>
                  <c:pt idx="2">
                    <c:v>ICICI Bank</c:v>
                  </c:pt>
                  <c:pt idx="3">
                    <c:v>Nifty 50</c:v>
                  </c:pt>
                </c:lvl>
              </c:multiLvlStrCache>
            </c:multiLvlStrRef>
          </c:cat>
          <c:val>
            <c:numRef>
              <c:f>Sheet1!$D$2:$D$5</c:f>
              <c:numCache>
                <c:formatCode>General</c:formatCode>
                <c:ptCount val="4"/>
                <c:pt idx="0">
                  <c:v>0.0525</c:v>
                </c:pt>
                <c:pt idx="1">
                  <c:v>0.2203</c:v>
                </c:pt>
                <c:pt idx="2">
                  <c:v>0.2235</c:v>
                </c:pt>
                <c:pt idx="3">
                  <c:v>-0.1332</c:v>
                </c:pt>
              </c:numCache>
            </c:numRef>
          </c:val>
        </c:ser>
        <c:dLbls>
          <c:numFmt formatCode="0.0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CBB0"/>
            </a:solidFill>
            <a:prstDash val="solid"/>
            <a:round/>
          </a:ln>
        </c:spPr>
        <c:txPr>
          <a:bodyPr/>
          <a:lstStyle/>
          <a:p>
            <a:pPr>
              <a:defRPr sz="1200" b="0" i="0" u="none" strike="noStrike">
                <a:solidFill>
                  <a:srgbClr val="1D2C62"/>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D2C6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Our project is an AI-augmented security analysis of three companies, Hindustan Unilever, Sun Pharma and ICICI Bank, built around one practical question: if each of us invests ten thousand rupees a month after graduation, should that money own them, and how? Our answer has three moves. Pick three businesses whose returns don't move together. Price them honestly: all three trade above our blended values, so we buy slowly. And size the portfolio to each of us: 31, 19, 50 percent, as a satellite around a Nifty index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We worked top-down. The economy is growing 7.8%, led by investment, up 11.9%, rather than consumption. So we wanted three different engines. ICICI Bank is the credit engine of an investment-led cycle. Hindustan Unilever is the defensive anchor: the lowest beta, 0.60, in the weakest sector right now, so we are buying out-of-favour quality rather than chasing. Sun Pharma's demand doesn't follow the cycle, and its US business earns dollars. The proof that they diversify each other: pairwise correlations of only 0.16–0.24. Just as important is what we rejected. Media was the strongest sector, 11% above its 200-day average. But on our class utility function a balanced investor would refuse it, with certainty equivalents of minus 8 to minus 38 percent. Buying it would be recency bias, the behaviour our own policy statement bans.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Excel is our source of truth: a two-stage dividend discount model for HUL, which pays out most of its profit, and residual income for Sun Pharma and for ICICI, a bank. Against today's prices, the blended values are 14% below for HUL, 30% for Sun Pharma and 37% for ICICI Bank. So is the market wrong? Reverse the model and ask what growth the price implies: 7.4% a year for ever for HUL, 8.6% for Sun Pharma and 13.9% for ICICI Bank. ICICI grew loans 19.6% last quarter, so its implied growth is not crazy; the gap comes mostly from our 14.7% cost of equity, driven by a beta of 1.29. Analysts are far more bullish, with mean targets well above the price. Our honest reading: good companies at full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brief asked how AI can augment this, so we ran five tasks, and each one is checked against something independent. Claude read the FY26 annual reports and extracted 47 numbers: 44 match Yahoo and Screener within 1%, and the rest are definition differences, not errors. FinBERT scored over 2,400 headlines and every earnings-call sentence: HUL's management is far more upbeat than the analysts questioning them. An LLM tagged 120 headlines for behavioural cues: 41% carry one, mostly broker authority and herding, and 14% weren't about the company at all. The rule throughout: AI reads and labels; every number is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DEMO DRIVER: open the dashboard (Submission data, so the screen matches the slides). (1) Questionnaire: 'Ten questions turn your answers into a risk-aversion number, A.' Click the middle answer each time (that is our Balanced investor, A = 4) and press BUILD MY PORTFOLIO. (2) Portfolio: 'For A = 4, one lakh splits into ₹13,382 HUL, ₹8,394 Sun Pharma, ₹21,833 ICICI Bank and ₹56,392 of T-bills. The one-year 95% VaR is ₹5,582.' Now move A from 4 to 2: 'your share in P goes from 44% to 87%, and every number recomputes: the rupee split, the VaR, the Monte Carlo fan and the 15-year SIP.' (3) Risk tab: 'In a COVID-style crash this portfolio would have lost about ₹15,080; our stocks fell less than the Nifty in all four sell-offs.' (4) Ask: pick 'Why is ICICI Bank the largest weight?'. 'Every number in the answer cites the file it came from.' Then flip the data selector to LATEST and say what has changed since submission. If any step takes more than 10 seconds, drop down the backup ladder without apologising.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Is technical analysis possible? We tested two classic rules, a 50/200-day moving-average crossover and RSI mean reversion, after a 0.25% trading cost. Buy-and-hold has the higher Sharpe ratio in all 8 cases. The rules do cut drawdowns, so they're risk controls, not return engines. That is weak-form efficiency. And prices digest news fast: across 72 earnings announcements, stocks rose 1.2% in three days after a beat and fell 1.6% after a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Now the portfolio. On history alone, the optimiser puts the maximum 60% in ICICI, because it was the last decade's winner. That's hindsight. So we use forward-looking CAPM returns and get 31% HUL, 19% Sun Pharma, 50% ICICI Bank. Here's the honest part: that portfolio's Sharpe ratio is 0.34, below the Nifty's 0.44. Three stocks can't beat the market's diversification, which is why the long-term plan keeps a Nifty core. Then each of us sizes it with the utility function: with A of 2 you put 87% in P; with 4, 44%; with 6, 29%. The rest goes to T-bills. Out of sample, weights fitted on 2016 to 2022 earned 7.9% a year from 2023, against 7.4% for the Nifty and 3.2% for the history-based weights, with the caveat that we chose Sun Pharma after its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How do you build this over the years? A ten-thousand-rupee SIP rising 10% a year puts in ₹38.1 lakh over 15 years. Half goes to a Nifty index fund and half to our three stocks, and equity glides down to 40% as the goal nears. For a balanced investor the median outcome is ₹64.8 lakh. The chance of reaching 75 lakh is 19% with normal returns and 11% when we resample real history. Our investment policy statement adds the discipline: an emergency fund outside the portfolio, yearly rebalancing with new money, and behavioural rules, starting with no selling in the month after a 20%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So, our recommendation. HUL: buy; our models call it fairly valued. Sun Pharma and ICICI Bank: hold. Our models say they are expensive and analysts say they are cheap, so add only through the SIP, never as a lump sum. Each range runs from our blended value to the analysts' mean target. The risks we are watching: ICICI is half the weight but 57% of the risk; drug-price regulation for Sun Pharma; and all three prices assume growth for ever. The limitations are on the slide, and every number here is live on our dashboard.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on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correlation, risk contribution and stress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only if the live link, the local copy and the recorded walkthrough all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7708392" y="0"/>
            <a:ext cx="4483303" cy="6858000"/>
          </a:xfrm>
          <a:prstGeom prst="rect">
            <a:avLst/>
          </a:prstGeom>
          <a:solidFill>
            <a:schemeClr val="tx1"/>
          </a:solidFill>
          <a:ln/>
        </p:spPr>
      </p:sp>
      <p:sp>
        <p:nvSpPr>
          <p:cNvPr id="3" name="Text 1"/>
          <p:cNvSpPr txBox="1"/>
          <p:nvPr/>
        </p:nvSpPr>
        <p:spPr>
          <a:xfrm>
            <a:off x="8229600" y="384048"/>
            <a:ext cx="3410712" cy="274320"/>
          </a:xfrm>
          <a:prstGeom prst="rect">
            <a:avLst/>
          </a:prstGeom>
          <a:noFill/>
          <a:ln/>
        </p:spPr>
        <p:txBody>
          <a:bodyPr wrap="square" lIns="0" tIns="0" rIns="0" bIns="0" rtlCol="0" anchor="ctr"/>
          <a:lstStyle/>
          <a:p>
            <a:pPr algn="r" indent="0" marL="0">
              <a:buNone/>
            </a:pPr>
            <a:r>
              <a:rPr lang="en-US" sz="900" b="1" spc="150" kern="0" dirty="0">
                <a:solidFill>
                  <a:schemeClr val="bg1"/>
                </a:solidFill>
              </a:rPr>
              <a:t>HUL · SUN PHARMA · ICICI BANK</a:t>
            </a:r>
            <a:endParaRPr lang="en-US" sz="900" dirty="0"/>
          </a:p>
        </p:txBody>
      </p:sp>
      <p:sp>
        <p:nvSpPr>
          <p:cNvPr id="4" name="Text 2"/>
          <p:cNvSpPr/>
          <p:nvPr>
            <p:ph idx="102" type="body" hasCustomPrompt="1"/>
          </p:nvPr>
        </p:nvSpPr>
        <p:spPr>
          <a:xfrm>
            <a:off x="548640" y="384048"/>
            <a:ext cx="6766560" cy="274320"/>
          </a:xfrm>
          <a:prstGeom prst="rect">
            <a:avLst/>
          </a:prstGeom>
          <a:noFill/>
          <a:ln/>
        </p:spPr>
        <p:txBody>
          <a:bodyPr wrap="square" rtlCol="0"/>
          <a:lstStyle>
            <a:lvl1pPr algn="l" indent="0" marL="0">
              <a:buNone/>
              <a:defRPr lang="en-US" sz="1000" b="1" dirty="0">
                <a:solidFill>
                  <a:schemeClr val="tx1"/>
                </a:solidFill>
              </a:defRPr>
            </a:lvl1pPr>
          </a:lstStyle>
          <a:p>
            <a:pPr algn="l" indent="0" marL="0">
              <a:buNone/>
            </a:pPr>
            <a:endParaRPr lang="en-US" sz="1000" dirty="0"/>
          </a:p>
        </p:txBody>
      </p:sp>
      <p:sp>
        <p:nvSpPr>
          <p:cNvPr id="5" name="Text 2"/>
          <p:cNvSpPr/>
          <p:nvPr>
            <p:ph idx="103" type="title" hasCustomPrompt="1"/>
          </p:nvPr>
        </p:nvSpPr>
        <p:spPr>
          <a:xfrm>
            <a:off x="548640" y="960120"/>
            <a:ext cx="6766560" cy="1645920"/>
          </a:xfrm>
          <a:prstGeom prst="rect">
            <a:avLst/>
          </a:prstGeom>
          <a:noFill/>
          <a:ln/>
        </p:spPr>
        <p:txBody>
          <a:bodyPr wrap="square" rtlCol="0"/>
          <a:lstStyle>
            <a:lvl1pPr algn="l" indent="0" marL="0">
              <a:buNone/>
              <a:defRPr lang="en-US" sz="4400" b="1" dirty="0">
                <a:solidFill>
                  <a:schemeClr val="accent1"/>
                </a:solidFill>
              </a:defRPr>
            </a:lvl1pPr>
          </a:lstStyle>
          <a:p>
            <a:pPr algn="l" indent="0" marL="0">
              <a:buNone/>
            </a:pPr>
            <a:endParaRPr lang="en-US" sz="4400" dirty="0"/>
          </a:p>
        </p:txBody>
      </p:sp>
      <p:sp>
        <p:nvSpPr>
          <p:cNvPr id="6" name="Text 2"/>
          <p:cNvSpPr/>
          <p:nvPr>
            <p:ph idx="104" type="body" hasCustomPrompt="1"/>
          </p:nvPr>
        </p:nvSpPr>
        <p:spPr>
          <a:xfrm>
            <a:off x="548640" y="2743200"/>
            <a:ext cx="6400800" cy="822960"/>
          </a:xfrm>
          <a:prstGeom prst="rect">
            <a:avLst/>
          </a:prstGeom>
          <a:noFill/>
          <a:ln/>
        </p:spPr>
        <p:txBody>
          <a:bodyPr wrap="square" rtlCol="0"/>
          <a:lstStyle>
            <a:lvl1pPr algn="l" indent="0" marL="0">
              <a:buNone/>
              <a:defRPr lang="en-US" sz="1800" dirty="0">
                <a:solidFill>
                  <a:schemeClr val="tx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REAM">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7680960" y="384048"/>
            <a:ext cx="3959352" cy="274320"/>
          </a:xfrm>
          <a:prstGeom prst="rect">
            <a:avLst/>
          </a:prstGeom>
          <a:noFill/>
          <a:ln/>
        </p:spPr>
        <p:txBody>
          <a:bodyPr wrap="square" lIns="0" tIns="0" rIns="0" bIns="0" rtlCol="0" anchor="ctr"/>
          <a:lstStyle/>
          <a:p>
            <a:pPr algn="r" indent="0" marL="0">
              <a:buNone/>
            </a:pPr>
            <a:r>
              <a:rPr lang="en-US" sz="900" b="1" spc="150" kern="0" dirty="0">
                <a:solidFill>
                  <a:schemeClr val="tx2"/>
                </a:solidFill>
              </a:rPr>
              <a:t>HUL · SUN PHARMA · ICICI BANK</a:t>
            </a:r>
            <a:endParaRPr lang="en-US" sz="900" dirty="0"/>
          </a:p>
        </p:txBody>
      </p:sp>
      <p:sp>
        <p:nvSpPr>
          <p:cNvPr id="3" name="Text 1"/>
          <p:cNvSpPr/>
          <p:nvPr>
            <p:ph idx="101" type="body" hasCustomPrompt="1"/>
          </p:nvPr>
        </p:nvSpPr>
        <p:spPr>
          <a:xfrm>
            <a:off x="548640" y="384048"/>
            <a:ext cx="6766560" cy="274320"/>
          </a:xfrm>
          <a:prstGeom prst="rect">
            <a:avLst/>
          </a:prstGeom>
          <a:noFill/>
          <a:ln/>
        </p:spPr>
        <p:txBody>
          <a:bodyPr wrap="square" rtlCol="0"/>
          <a:lstStyle>
            <a:lvl1pPr algn="l" indent="0" marL="0">
              <a:buNone/>
              <a:defRPr lang="en-US" sz="1000" b="1" dirty="0">
                <a:solidFill>
                  <a:schemeClr val="accent1"/>
                </a:solidFill>
              </a:defRPr>
            </a:lvl1pPr>
          </a:lstStyle>
          <a:p>
            <a:pPr algn="l" indent="0" marL="0">
              <a:buNone/>
            </a:pPr>
            <a:endParaRPr lang="en-US" sz="1000" dirty="0"/>
          </a:p>
        </p:txBody>
      </p:sp>
      <p:sp>
        <p:nvSpPr>
          <p:cNvPr id="4" name="Text 1"/>
          <p:cNvSpPr/>
          <p:nvPr>
            <p:ph idx="102" type="title" hasCustomPrompt="1"/>
          </p:nvPr>
        </p:nvSpPr>
        <p:spPr>
          <a:xfrm>
            <a:off x="548640" y="731520"/>
            <a:ext cx="11064240" cy="960120"/>
          </a:xfrm>
          <a:prstGeom prst="rect">
            <a:avLst/>
          </a:prstGeom>
          <a:noFill/>
          <a:ln/>
        </p:spPr>
        <p:txBody>
          <a:bodyPr wrap="square" rtlCol="0"/>
          <a:lstStyle>
            <a:lvl1pPr algn="l" indent="0" marL="0">
              <a:buNone/>
              <a:defRPr lang="en-US" sz="2800" b="1" dirty="0">
                <a:solidFill>
                  <a:schemeClr val="accent1"/>
                </a:solidFill>
              </a:defRPr>
            </a:lvl1pPr>
          </a:lstStyle>
          <a:p>
            <a:pPr algn="l" indent="0" marL="0">
              <a:buNone/>
            </a:pPr>
            <a:endParaRPr lang="en-US" sz="2800" dirty="0"/>
          </a:p>
        </p:txBody>
      </p:sp>
      <p:sp>
        <p:nvSpPr>
          <p:cNvPr id="5" name="Text 1"/>
          <p:cNvSpPr/>
          <p:nvPr>
            <p:ph idx="103" type="body" hasCustomPrompt="1"/>
          </p:nvPr>
        </p:nvSpPr>
        <p:spPr>
          <a:xfrm>
            <a:off x="548640" y="1783080"/>
            <a:ext cx="11064240" cy="45720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AVY">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7680960" y="384048"/>
            <a:ext cx="3959352" cy="274320"/>
          </a:xfrm>
          <a:prstGeom prst="rect">
            <a:avLst/>
          </a:prstGeom>
          <a:noFill/>
          <a:ln/>
        </p:spPr>
        <p:txBody>
          <a:bodyPr wrap="square" lIns="0" tIns="0" rIns="0" bIns="0" rtlCol="0" anchor="ctr"/>
          <a:lstStyle/>
          <a:p>
            <a:pPr algn="r" indent="0" marL="0">
              <a:buNone/>
            </a:pPr>
            <a:r>
              <a:rPr lang="en-US" sz="900" b="1" spc="150" kern="0" dirty="0">
                <a:solidFill>
                  <a:schemeClr val="bg1"/>
                </a:solidFill>
              </a:rPr>
              <a:t>HUL · SUN PHARMA · ICICI BANK</a:t>
            </a:r>
            <a:endParaRPr lang="en-US" sz="900" dirty="0"/>
          </a:p>
        </p:txBody>
      </p:sp>
      <p:sp>
        <p:nvSpPr>
          <p:cNvPr id="3" name="Text 1"/>
          <p:cNvSpPr/>
          <p:nvPr>
            <p:ph idx="101" type="body" hasCustomPrompt="1"/>
          </p:nvPr>
        </p:nvSpPr>
        <p:spPr>
          <a:xfrm>
            <a:off x="548640" y="384048"/>
            <a:ext cx="6766560" cy="274320"/>
          </a:xfrm>
          <a:prstGeom prst="rect">
            <a:avLst/>
          </a:prstGeom>
          <a:noFill/>
          <a:ln/>
        </p:spPr>
        <p:txBody>
          <a:bodyPr wrap="square" rtlCol="0"/>
          <a:lstStyle>
            <a:lvl1pPr algn="l" indent="0" marL="0">
              <a:buNone/>
              <a:defRPr lang="en-US" sz="1000" b="1" dirty="0">
                <a:solidFill>
                  <a:schemeClr val="accent2"/>
                </a:solidFill>
              </a:defRPr>
            </a:lvl1pPr>
          </a:lstStyle>
          <a:p>
            <a:pPr algn="l" indent="0" marL="0">
              <a:buNone/>
            </a:pPr>
            <a:endParaRPr lang="en-US" sz="1000" dirty="0"/>
          </a:p>
        </p:txBody>
      </p:sp>
      <p:sp>
        <p:nvSpPr>
          <p:cNvPr id="4" name="Text 1"/>
          <p:cNvSpPr/>
          <p:nvPr>
            <p:ph idx="102" type="title" hasCustomPrompt="1"/>
          </p:nvPr>
        </p:nvSpPr>
        <p:spPr>
          <a:xfrm>
            <a:off x="548640" y="731520"/>
            <a:ext cx="11064240" cy="96012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5" name="Text 1"/>
          <p:cNvSpPr/>
          <p:nvPr>
            <p:ph idx="103" type="body" hasCustomPrompt="1"/>
          </p:nvPr>
        </p:nvSpPr>
        <p:spPr>
          <a:xfrm>
            <a:off x="548640" y="1783080"/>
            <a:ext cx="11064240" cy="45720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NEL_RIGH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chemeClr val="tx1"/>
          </a:solidFill>
          <a:ln/>
        </p:spPr>
      </p:sp>
      <p:sp>
        <p:nvSpPr>
          <p:cNvPr id="3" name="Text 1"/>
          <p:cNvSpPr txBox="1"/>
          <p:nvPr/>
        </p:nvSpPr>
        <p:spPr>
          <a:xfrm>
            <a:off x="8503920" y="384048"/>
            <a:ext cx="3136392" cy="274320"/>
          </a:xfrm>
          <a:prstGeom prst="rect">
            <a:avLst/>
          </a:prstGeom>
          <a:noFill/>
          <a:ln/>
        </p:spPr>
        <p:txBody>
          <a:bodyPr wrap="square" lIns="0" tIns="0" rIns="0" bIns="0" rtlCol="0" anchor="ctr"/>
          <a:lstStyle/>
          <a:p>
            <a:pPr algn="r" indent="0" marL="0">
              <a:buNone/>
            </a:pPr>
            <a:r>
              <a:rPr lang="en-US" sz="900" b="1" spc="150" kern="0" dirty="0">
                <a:solidFill>
                  <a:schemeClr val="bg1"/>
                </a:solidFill>
              </a:rPr>
              <a:t>HUL · SUN PHARMA · ICICI BANK</a:t>
            </a:r>
            <a:endParaRPr lang="en-US" sz="900" dirty="0"/>
          </a:p>
        </p:txBody>
      </p:sp>
      <p:sp>
        <p:nvSpPr>
          <p:cNvPr id="4" name="Text 2"/>
          <p:cNvSpPr/>
          <p:nvPr>
            <p:ph idx="102" type="body" hasCustomPrompt="1"/>
          </p:nvPr>
        </p:nvSpPr>
        <p:spPr>
          <a:xfrm>
            <a:off x="548640" y="384048"/>
            <a:ext cx="7223760" cy="274320"/>
          </a:xfrm>
          <a:prstGeom prst="rect">
            <a:avLst/>
          </a:prstGeom>
          <a:noFill/>
          <a:ln/>
        </p:spPr>
        <p:txBody>
          <a:bodyPr wrap="square" rtlCol="0"/>
          <a:lstStyle>
            <a:lvl1pPr algn="l" indent="0" marL="0">
              <a:buNone/>
              <a:defRPr lang="en-US" sz="1000" b="1" dirty="0">
                <a:solidFill>
                  <a:schemeClr val="accent1"/>
                </a:solidFill>
              </a:defRPr>
            </a:lvl1pPr>
          </a:lstStyle>
          <a:p>
            <a:pPr algn="l" indent="0" marL="0">
              <a:buNone/>
            </a:pPr>
            <a:endParaRPr lang="en-US" sz="1000" dirty="0"/>
          </a:p>
        </p:txBody>
      </p:sp>
      <p:sp>
        <p:nvSpPr>
          <p:cNvPr id="5" name="Text 2"/>
          <p:cNvSpPr/>
          <p:nvPr>
            <p:ph idx="103" type="title" hasCustomPrompt="1"/>
          </p:nvPr>
        </p:nvSpPr>
        <p:spPr>
          <a:xfrm>
            <a:off x="548640" y="731520"/>
            <a:ext cx="7223760" cy="960120"/>
          </a:xfrm>
          <a:prstGeom prst="rect">
            <a:avLst/>
          </a:prstGeom>
          <a:noFill/>
          <a:ln/>
        </p:spPr>
        <p:txBody>
          <a:bodyPr wrap="square" rtlCol="0"/>
          <a:lstStyle>
            <a:lvl1pPr algn="l" indent="0" marL="0">
              <a:buNone/>
              <a:defRPr lang="en-US" sz="2800" b="1" dirty="0">
                <a:solidFill>
                  <a:schemeClr val="accent1"/>
                </a:solidFill>
              </a:defRPr>
            </a:lvl1pPr>
          </a:lstStyle>
          <a:p>
            <a:pPr algn="l" indent="0" marL="0">
              <a:buNone/>
            </a:pPr>
            <a:endParaRPr lang="en-US" sz="2800" dirty="0"/>
          </a:p>
        </p:txBody>
      </p:sp>
      <p:sp>
        <p:nvSpPr>
          <p:cNvPr id="6" name="Text 2"/>
          <p:cNvSpPr/>
          <p:nvPr>
            <p:ph idx="104" type="body" hasCustomPrompt="1"/>
          </p:nvPr>
        </p:nvSpPr>
        <p:spPr>
          <a:xfrm>
            <a:off x="548640" y="1783080"/>
            <a:ext cx="7223760" cy="45720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NEL_LEF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chemeClr val="tx1"/>
          </a:solidFill>
          <a:ln/>
        </p:spPr>
      </p:sp>
      <p:sp>
        <p:nvSpPr>
          <p:cNvPr id="3" name="Text 1"/>
          <p:cNvSpPr txBox="1"/>
          <p:nvPr/>
        </p:nvSpPr>
        <p:spPr>
          <a:xfrm>
            <a:off x="7680960" y="384048"/>
            <a:ext cx="3959352" cy="274320"/>
          </a:xfrm>
          <a:prstGeom prst="rect">
            <a:avLst/>
          </a:prstGeom>
          <a:noFill/>
          <a:ln/>
        </p:spPr>
        <p:txBody>
          <a:bodyPr wrap="square" lIns="0" tIns="0" rIns="0" bIns="0" rtlCol="0" anchor="ctr"/>
          <a:lstStyle/>
          <a:p>
            <a:pPr algn="r" indent="0" marL="0">
              <a:buNone/>
            </a:pPr>
            <a:r>
              <a:rPr lang="en-US" sz="900" b="1" spc="150" kern="0" dirty="0">
                <a:solidFill>
                  <a:schemeClr val="tx2"/>
                </a:solidFill>
              </a:rPr>
              <a:t>HUL · SUN PHARMA · ICICI BANK</a:t>
            </a:r>
            <a:endParaRPr lang="en-US" sz="900" dirty="0"/>
          </a:p>
        </p:txBody>
      </p:sp>
      <p:sp>
        <p:nvSpPr>
          <p:cNvPr id="4" name="Text 2"/>
          <p:cNvSpPr/>
          <p:nvPr>
            <p:ph idx="102" type="body" hasCustomPrompt="1"/>
          </p:nvPr>
        </p:nvSpPr>
        <p:spPr>
          <a:xfrm>
            <a:off x="548640" y="384048"/>
            <a:ext cx="2926080" cy="274320"/>
          </a:xfrm>
          <a:prstGeom prst="rect">
            <a:avLst/>
          </a:prstGeom>
          <a:noFill/>
          <a:ln/>
        </p:spPr>
        <p:txBody>
          <a:bodyPr wrap="square" rtlCol="0"/>
          <a:lstStyle>
            <a:lvl1pPr algn="l" indent="0" marL="0">
              <a:buNone/>
              <a:defRPr lang="en-US" sz="1000" b="1" dirty="0">
                <a:solidFill>
                  <a:schemeClr val="accent2"/>
                </a:solidFill>
              </a:defRPr>
            </a:lvl1pPr>
          </a:lstStyle>
          <a:p>
            <a:pPr algn="l" indent="0" marL="0">
              <a:buNone/>
            </a:pPr>
            <a:endParaRPr lang="en-US" sz="1000" dirty="0"/>
          </a:p>
        </p:txBody>
      </p:sp>
      <p:sp>
        <p:nvSpPr>
          <p:cNvPr id="5" name="Text 2"/>
          <p:cNvSpPr/>
          <p:nvPr>
            <p:ph idx="103" type="title" hasCustomPrompt="1"/>
          </p:nvPr>
        </p:nvSpPr>
        <p:spPr>
          <a:xfrm>
            <a:off x="548640" y="731520"/>
            <a:ext cx="2926080" cy="96012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6" name="Text 2"/>
          <p:cNvSpPr/>
          <p:nvPr>
            <p:ph idx="104" type="body" hasCustomPrompt="1"/>
          </p:nvPr>
        </p:nvSpPr>
        <p:spPr>
          <a:xfrm>
            <a:off x="548640" y="1783080"/>
            <a:ext cx="2926080" cy="45720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6.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tx1"/>
                </a:solidFill>
              </a:rPr>
              <a:t>SECURITY ANALYSIS (BBAT35F97) · TAPMI · BBA(H) SEMESTER V</a:t>
            </a:r>
            <a:endParaRPr lang="en-US" sz="1000" dirty="0"/>
          </a:p>
        </p:txBody>
      </p:sp>
      <p:sp>
        <p:nvSpPr>
          <p:cNvPr id="3" name="Text 2"/>
          <p:cNvSpPr/>
          <p:nvPr>
            <p:ph idx="103" type="title" hasCustomPrompt="1"/>
          </p:nvPr>
        </p:nvSpPr>
        <p:spPr>
          <a:xfrm>
            <a:off x="548640" y="960120"/>
            <a:ext cx="6766560" cy="1645920"/>
          </a:xfrm>
          <a:prstGeom prst="rect">
            <a:avLst/>
          </a:prstGeom>
          <a:noFill/>
          <a:ln/>
        </p:spPr>
        <p:txBody>
          <a:bodyPr wrap="square" lIns="0" tIns="0" rIns="0" bIns="0" rtlCol="0" anchor="t"/>
          <a:lstStyle/>
          <a:p>
            <a:pPr algn="l" indent="0" marL="0">
              <a:buNone/>
            </a:pPr>
            <a:r>
              <a:rPr lang="en-US" sz="4400" b="1" dirty="0">
                <a:solidFill>
                  <a:schemeClr val="accent1"/>
                </a:solidFill>
              </a:rPr>
              <a:t>AI-AUGMENTED SECURITY ANALYSIS</a:t>
            </a:r>
            <a:endParaRPr lang="en-US" sz="4400" dirty="0"/>
          </a:p>
        </p:txBody>
      </p:sp>
      <p:sp>
        <p:nvSpPr>
          <p:cNvPr id="4" name="Text 2"/>
          <p:cNvSpPr/>
          <p:nvPr>
            <p:ph idx="104" type="body" hasCustomPrompt="1"/>
          </p:nvPr>
        </p:nvSpPr>
        <p:spPr>
          <a:xfrm>
            <a:off x="548640" y="2743200"/>
            <a:ext cx="6400800" cy="822960"/>
          </a:xfrm>
          <a:prstGeom prst="rect">
            <a:avLst/>
          </a:prstGeom>
          <a:noFill/>
          <a:ln/>
        </p:spPr>
        <p:txBody>
          <a:bodyPr wrap="square" lIns="0" tIns="0" rIns="0" bIns="0" rtlCol="0" anchor="t"/>
          <a:lstStyle/>
          <a:p>
            <a:pPr algn="l" indent="0" marL="0">
              <a:buNone/>
            </a:pPr>
            <a:r>
              <a:rPr lang="en-US" sz="1800" dirty="0">
                <a:solidFill>
                  <a:schemeClr val="tx1"/>
                </a:solidFill>
              </a:rPr>
              <a:t>Valuing Hindustan Unilever, Sun Pharma and ICICI Bank, and building a long-term portfolio from them</a:t>
            </a:r>
            <a:endParaRPr lang="en-US" sz="1800" dirty="0"/>
          </a:p>
        </p:txBody>
      </p:sp>
      <p:sp>
        <p:nvSpPr>
          <p:cNvPr id="5" name="cover-HUL"/>
          <p:cNvSpPr/>
          <p:nvPr/>
        </p:nvSpPr>
        <p:spPr>
          <a:xfrm>
            <a:off x="548640" y="3840480"/>
            <a:ext cx="2103120" cy="1783080"/>
          </a:xfrm>
          <a:prstGeom prst="rect">
            <a:avLst/>
          </a:prstGeom>
          <a:solidFill>
            <a:schemeClr val="bg1"/>
          </a:solidFill>
          <a:ln w="9525">
            <a:solidFill>
              <a:schemeClr val="accent6"/>
            </a:solidFill>
            <a:prstDash val="solid"/>
          </a:ln>
        </p:spPr>
      </p:sp>
      <p:sp>
        <p:nvSpPr>
          <p:cNvPr id="6" name="Shape 4"/>
          <p:cNvSpPr/>
          <p:nvPr/>
        </p:nvSpPr>
        <p:spPr>
          <a:xfrm>
            <a:off x="731520" y="4041648"/>
            <a:ext cx="566928" cy="566928"/>
          </a:xfrm>
          <a:prstGeom prst="ellipse">
            <a:avLst/>
          </a:prstGeom>
          <a:solidFill>
            <a:schemeClr val="accent3"/>
          </a:solidFill>
          <a:ln w="12700">
            <a:solidFill>
              <a:schemeClr val="accent3"/>
            </a:solidFill>
            <a:prstDash val="solid"/>
          </a:ln>
        </p:spPr>
      </p:sp>
      <p:pic>
        <p:nvPicPr>
          <p:cNvPr id="7" name="cover-icon-HUL" descr="preencoded.png">    </p:cNvPr>
          <p:cNvPicPr>
            <a:picLocks noChangeAspect="1"/>
          </p:cNvPicPr>
          <p:nvPr/>
        </p:nvPicPr>
        <p:blipFill>
          <a:blip r:embed="rId1"/>
          <a:stretch>
            <a:fillRect/>
          </a:stretch>
        </p:blipFill>
        <p:spPr>
          <a:xfrm>
            <a:off x="854964" y="4165092"/>
            <a:ext cx="320040" cy="320040"/>
          </a:xfrm>
          <a:prstGeom prst="rect">
            <a:avLst/>
          </a:prstGeom>
        </p:spPr>
      </p:pic>
      <p:sp>
        <p:nvSpPr>
          <p:cNvPr id="8" name="Text 5"/>
          <p:cNvSpPr txBox="1"/>
          <p:nvPr/>
        </p:nvSpPr>
        <p:spPr>
          <a:xfrm>
            <a:off x="1444752" y="4078224"/>
            <a:ext cx="1143000" cy="548640"/>
          </a:xfrm>
          <a:prstGeom prst="rect">
            <a:avLst/>
          </a:prstGeom>
          <a:noFill/>
          <a:ln/>
        </p:spPr>
        <p:txBody>
          <a:bodyPr wrap="square" lIns="0" tIns="0" rIns="0" bIns="0" rtlCol="0" anchor="t"/>
          <a:lstStyle/>
          <a:p>
            <a:pPr indent="0" marL="0">
              <a:buNone/>
            </a:pPr>
            <a:r>
              <a:rPr lang="en-US" sz="1000" b="1" spc="100" kern="0" dirty="0">
                <a:solidFill>
                  <a:schemeClr val="tx2"/>
                </a:solidFill>
              </a:rPr>
              <a:t>FMCG</a:t>
            </a:r>
            <a:endParaRPr lang="en-US" sz="1000" dirty="0"/>
          </a:p>
          <a:p>
            <a:pPr indent="0" marL="0">
              <a:buNone/>
            </a:pPr>
            <a:r>
              <a:rPr lang="en-US" sz="1300" b="1" dirty="0">
                <a:solidFill>
                  <a:schemeClr val="tx1"/>
                </a:solidFill>
              </a:rPr>
              <a:t>31% OF P</a:t>
            </a:r>
            <a:endParaRPr lang="en-US" sz="1000" dirty="0"/>
          </a:p>
        </p:txBody>
      </p:sp>
      <p:sp>
        <p:nvSpPr>
          <p:cNvPr id="9" name="Text 6"/>
          <p:cNvSpPr txBox="1"/>
          <p:nvPr/>
        </p:nvSpPr>
        <p:spPr>
          <a:xfrm>
            <a:off x="731520" y="4800600"/>
            <a:ext cx="1828800" cy="320040"/>
          </a:xfrm>
          <a:prstGeom prst="rect">
            <a:avLst/>
          </a:prstGeom>
          <a:noFill/>
          <a:ln/>
        </p:spPr>
        <p:txBody>
          <a:bodyPr wrap="square" lIns="0" tIns="0" rIns="0" bIns="0" rtlCol="0" anchor="t"/>
          <a:lstStyle/>
          <a:p>
            <a:pPr indent="0" marL="0">
              <a:buNone/>
            </a:pPr>
            <a:r>
              <a:rPr lang="en-US" sz="1500" b="1" dirty="0">
                <a:solidFill>
                  <a:schemeClr val="tx1"/>
                </a:solidFill>
              </a:rPr>
              <a:t>Hindustan Unilever</a:t>
            </a:r>
            <a:endParaRPr lang="en-US" sz="1500" dirty="0"/>
          </a:p>
        </p:txBody>
      </p:sp>
      <p:sp>
        <p:nvSpPr>
          <p:cNvPr id="10" name="Text 7"/>
          <p:cNvSpPr txBox="1"/>
          <p:nvPr/>
        </p:nvSpPr>
        <p:spPr>
          <a:xfrm>
            <a:off x="731520" y="5166360"/>
            <a:ext cx="1828800" cy="274320"/>
          </a:xfrm>
          <a:prstGeom prst="rect">
            <a:avLst/>
          </a:prstGeom>
          <a:noFill/>
          <a:ln/>
        </p:spPr>
        <p:txBody>
          <a:bodyPr wrap="square" lIns="0" tIns="0" rIns="0" bIns="0" rtlCol="0" anchor="t"/>
          <a:lstStyle/>
          <a:p>
            <a:pPr indent="0" marL="0">
              <a:buNone/>
            </a:pPr>
            <a:r>
              <a:rPr lang="en-US" sz="1100" dirty="0">
                <a:solidFill>
                  <a:schemeClr val="tx2"/>
                </a:solidFill>
              </a:rPr>
              <a:t>β 0.60 · CAGR 9.6%</a:t>
            </a:r>
            <a:endParaRPr lang="en-US" sz="1100" dirty="0"/>
          </a:p>
        </p:txBody>
      </p:sp>
      <p:sp>
        <p:nvSpPr>
          <p:cNvPr id="11" name="cover-Sun Pharma"/>
          <p:cNvSpPr/>
          <p:nvPr/>
        </p:nvSpPr>
        <p:spPr>
          <a:xfrm>
            <a:off x="2834640" y="3840480"/>
            <a:ext cx="2103120" cy="1783080"/>
          </a:xfrm>
          <a:prstGeom prst="rect">
            <a:avLst/>
          </a:prstGeom>
          <a:solidFill>
            <a:schemeClr val="bg1"/>
          </a:solidFill>
          <a:ln w="9525">
            <a:solidFill>
              <a:schemeClr val="accent6"/>
            </a:solidFill>
            <a:prstDash val="solid"/>
          </a:ln>
        </p:spPr>
      </p:sp>
      <p:sp>
        <p:nvSpPr>
          <p:cNvPr id="12" name="Shape 9"/>
          <p:cNvSpPr/>
          <p:nvPr/>
        </p:nvSpPr>
        <p:spPr>
          <a:xfrm>
            <a:off x="3017520" y="4041648"/>
            <a:ext cx="566928" cy="566928"/>
          </a:xfrm>
          <a:prstGeom prst="ellipse">
            <a:avLst/>
          </a:prstGeom>
          <a:solidFill>
            <a:schemeClr val="accent2"/>
          </a:solidFill>
          <a:ln w="12700">
            <a:solidFill>
              <a:schemeClr val="accent2"/>
            </a:solidFill>
            <a:prstDash val="solid"/>
          </a:ln>
        </p:spPr>
      </p:sp>
      <p:pic>
        <p:nvPicPr>
          <p:cNvPr id="13" name="cover-icon-Sun Pharma" descr="preencoded.png">    </p:cNvPr>
          <p:cNvPicPr>
            <a:picLocks noChangeAspect="1"/>
          </p:cNvPicPr>
          <p:nvPr/>
        </p:nvPicPr>
        <p:blipFill>
          <a:blip r:embed="rId2"/>
          <a:stretch>
            <a:fillRect/>
          </a:stretch>
        </p:blipFill>
        <p:spPr>
          <a:xfrm>
            <a:off x="3140964" y="4165092"/>
            <a:ext cx="320040" cy="320040"/>
          </a:xfrm>
          <a:prstGeom prst="rect">
            <a:avLst/>
          </a:prstGeom>
        </p:spPr>
      </p:pic>
      <p:sp>
        <p:nvSpPr>
          <p:cNvPr id="14" name="Text 10"/>
          <p:cNvSpPr txBox="1"/>
          <p:nvPr/>
        </p:nvSpPr>
        <p:spPr>
          <a:xfrm>
            <a:off x="3730752" y="4078224"/>
            <a:ext cx="1143000" cy="548640"/>
          </a:xfrm>
          <a:prstGeom prst="rect">
            <a:avLst/>
          </a:prstGeom>
          <a:noFill/>
          <a:ln/>
        </p:spPr>
        <p:txBody>
          <a:bodyPr wrap="square" lIns="0" tIns="0" rIns="0" bIns="0" rtlCol="0" anchor="t"/>
          <a:lstStyle/>
          <a:p>
            <a:pPr indent="0" marL="0">
              <a:buNone/>
            </a:pPr>
            <a:r>
              <a:rPr lang="en-US" sz="1000" b="1" spc="100" kern="0" dirty="0">
                <a:solidFill>
                  <a:schemeClr val="tx2"/>
                </a:solidFill>
              </a:rPr>
              <a:t>PHARMA</a:t>
            </a:r>
            <a:endParaRPr lang="en-US" sz="1000" dirty="0"/>
          </a:p>
          <a:p>
            <a:pPr indent="0" marL="0">
              <a:buNone/>
            </a:pPr>
            <a:r>
              <a:rPr lang="en-US" sz="1300" b="1" dirty="0">
                <a:solidFill>
                  <a:schemeClr val="tx1"/>
                </a:solidFill>
              </a:rPr>
              <a:t>19% OF P</a:t>
            </a:r>
            <a:endParaRPr lang="en-US" sz="1000" dirty="0"/>
          </a:p>
        </p:txBody>
      </p:sp>
      <p:sp>
        <p:nvSpPr>
          <p:cNvPr id="15" name="Text 11"/>
          <p:cNvSpPr txBox="1"/>
          <p:nvPr/>
        </p:nvSpPr>
        <p:spPr>
          <a:xfrm>
            <a:off x="3017520" y="4800600"/>
            <a:ext cx="1828800" cy="320040"/>
          </a:xfrm>
          <a:prstGeom prst="rect">
            <a:avLst/>
          </a:prstGeom>
          <a:noFill/>
          <a:ln/>
        </p:spPr>
        <p:txBody>
          <a:bodyPr wrap="square" lIns="0" tIns="0" rIns="0" bIns="0" rtlCol="0" anchor="t"/>
          <a:lstStyle/>
          <a:p>
            <a:pPr indent="0" marL="0">
              <a:buNone/>
            </a:pPr>
            <a:r>
              <a:rPr lang="en-US" sz="1500" b="1" dirty="0">
                <a:solidFill>
                  <a:schemeClr val="tx1"/>
                </a:solidFill>
              </a:rPr>
              <a:t>Sun Pharma</a:t>
            </a:r>
            <a:endParaRPr lang="en-US" sz="1500" dirty="0"/>
          </a:p>
        </p:txBody>
      </p:sp>
      <p:sp>
        <p:nvSpPr>
          <p:cNvPr id="16" name="Text 12"/>
          <p:cNvSpPr txBox="1"/>
          <p:nvPr/>
        </p:nvSpPr>
        <p:spPr>
          <a:xfrm>
            <a:off x="3017520" y="5166360"/>
            <a:ext cx="1828800" cy="274320"/>
          </a:xfrm>
          <a:prstGeom prst="rect">
            <a:avLst/>
          </a:prstGeom>
          <a:noFill/>
          <a:ln/>
        </p:spPr>
        <p:txBody>
          <a:bodyPr wrap="square" lIns="0" tIns="0" rIns="0" bIns="0" rtlCol="0" anchor="t"/>
          <a:lstStyle/>
          <a:p>
            <a:pPr indent="0" marL="0">
              <a:buNone/>
            </a:pPr>
            <a:r>
              <a:rPr lang="en-US" sz="1100" dirty="0">
                <a:solidFill>
                  <a:schemeClr val="tx2"/>
                </a:solidFill>
              </a:rPr>
              <a:t>β 0.65 · CAGR 8.7%</a:t>
            </a:r>
            <a:endParaRPr lang="en-US" sz="1100" dirty="0"/>
          </a:p>
        </p:txBody>
      </p:sp>
      <p:sp>
        <p:nvSpPr>
          <p:cNvPr id="17" name="cover-ICICI Bank"/>
          <p:cNvSpPr/>
          <p:nvPr/>
        </p:nvSpPr>
        <p:spPr>
          <a:xfrm>
            <a:off x="5120640" y="3840480"/>
            <a:ext cx="2103120" cy="1783080"/>
          </a:xfrm>
          <a:prstGeom prst="rect">
            <a:avLst/>
          </a:prstGeom>
          <a:solidFill>
            <a:schemeClr val="bg1"/>
          </a:solidFill>
          <a:ln w="9525">
            <a:solidFill>
              <a:schemeClr val="accent6"/>
            </a:solidFill>
            <a:prstDash val="solid"/>
          </a:ln>
        </p:spPr>
      </p:sp>
      <p:sp>
        <p:nvSpPr>
          <p:cNvPr id="18" name="Shape 14"/>
          <p:cNvSpPr/>
          <p:nvPr/>
        </p:nvSpPr>
        <p:spPr>
          <a:xfrm>
            <a:off x="5303520" y="4041648"/>
            <a:ext cx="566928" cy="566928"/>
          </a:xfrm>
          <a:prstGeom prst="ellipse">
            <a:avLst/>
          </a:prstGeom>
          <a:solidFill>
            <a:schemeClr val="accent1"/>
          </a:solidFill>
          <a:ln w="12700">
            <a:solidFill>
              <a:schemeClr val="accent1"/>
            </a:solidFill>
            <a:prstDash val="solid"/>
          </a:ln>
        </p:spPr>
      </p:sp>
      <p:pic>
        <p:nvPicPr>
          <p:cNvPr id="19" name="cover-icon-ICICI Bank" descr="preencoded.png">    </p:cNvPr>
          <p:cNvPicPr>
            <a:picLocks noChangeAspect="1"/>
          </p:cNvPicPr>
          <p:nvPr/>
        </p:nvPicPr>
        <p:blipFill>
          <a:blip r:embed="rId3"/>
          <a:stretch>
            <a:fillRect/>
          </a:stretch>
        </p:blipFill>
        <p:spPr>
          <a:xfrm>
            <a:off x="5426964" y="4165092"/>
            <a:ext cx="320040" cy="320040"/>
          </a:xfrm>
          <a:prstGeom prst="rect">
            <a:avLst/>
          </a:prstGeom>
        </p:spPr>
      </p:pic>
      <p:sp>
        <p:nvSpPr>
          <p:cNvPr id="20" name="Text 15"/>
          <p:cNvSpPr txBox="1"/>
          <p:nvPr/>
        </p:nvSpPr>
        <p:spPr>
          <a:xfrm>
            <a:off x="6016752" y="4078224"/>
            <a:ext cx="1143000" cy="548640"/>
          </a:xfrm>
          <a:prstGeom prst="rect">
            <a:avLst/>
          </a:prstGeom>
          <a:noFill/>
          <a:ln/>
        </p:spPr>
        <p:txBody>
          <a:bodyPr wrap="square" lIns="0" tIns="0" rIns="0" bIns="0" rtlCol="0" anchor="t"/>
          <a:lstStyle/>
          <a:p>
            <a:pPr indent="0" marL="0">
              <a:buNone/>
            </a:pPr>
            <a:r>
              <a:rPr lang="en-US" sz="1000" b="1" spc="100" kern="0" dirty="0">
                <a:solidFill>
                  <a:schemeClr val="tx2"/>
                </a:solidFill>
              </a:rPr>
              <a:t>PRIVATE BANK</a:t>
            </a:r>
            <a:endParaRPr lang="en-US" sz="1000" dirty="0"/>
          </a:p>
          <a:p>
            <a:pPr indent="0" marL="0">
              <a:buNone/>
            </a:pPr>
            <a:r>
              <a:rPr lang="en-US" sz="1300" b="1" dirty="0">
                <a:solidFill>
                  <a:schemeClr val="tx1"/>
                </a:solidFill>
              </a:rPr>
              <a:t>50% OF P</a:t>
            </a:r>
            <a:endParaRPr lang="en-US" sz="1000" dirty="0"/>
          </a:p>
        </p:txBody>
      </p:sp>
      <p:sp>
        <p:nvSpPr>
          <p:cNvPr id="21" name="Text 16"/>
          <p:cNvSpPr txBox="1"/>
          <p:nvPr/>
        </p:nvSpPr>
        <p:spPr>
          <a:xfrm>
            <a:off x="5303520" y="4800600"/>
            <a:ext cx="1828800" cy="320040"/>
          </a:xfrm>
          <a:prstGeom prst="rect">
            <a:avLst/>
          </a:prstGeom>
          <a:noFill/>
          <a:ln/>
        </p:spPr>
        <p:txBody>
          <a:bodyPr wrap="square" lIns="0" tIns="0" rIns="0" bIns="0" rtlCol="0" anchor="t"/>
          <a:lstStyle/>
          <a:p>
            <a:pPr indent="0" marL="0">
              <a:buNone/>
            </a:pPr>
            <a:r>
              <a:rPr lang="en-US" sz="1500" b="1" dirty="0">
                <a:solidFill>
                  <a:schemeClr val="tx1"/>
                </a:solidFill>
              </a:rPr>
              <a:t>ICICI Bank</a:t>
            </a:r>
            <a:endParaRPr lang="en-US" sz="1500" dirty="0"/>
          </a:p>
        </p:txBody>
      </p:sp>
      <p:sp>
        <p:nvSpPr>
          <p:cNvPr id="22" name="Text 17"/>
          <p:cNvSpPr txBox="1"/>
          <p:nvPr/>
        </p:nvSpPr>
        <p:spPr>
          <a:xfrm>
            <a:off x="5303520" y="5166360"/>
            <a:ext cx="1828800" cy="274320"/>
          </a:xfrm>
          <a:prstGeom prst="rect">
            <a:avLst/>
          </a:prstGeom>
          <a:noFill/>
          <a:ln/>
        </p:spPr>
        <p:txBody>
          <a:bodyPr wrap="square" lIns="0" tIns="0" rIns="0" bIns="0" rtlCol="0" anchor="t"/>
          <a:lstStyle/>
          <a:p>
            <a:pPr indent="0" marL="0">
              <a:buNone/>
            </a:pPr>
            <a:r>
              <a:rPr lang="en-US" sz="1100" dirty="0">
                <a:solidFill>
                  <a:schemeClr val="tx2"/>
                </a:solidFill>
              </a:rPr>
              <a:t>β 1.29 · CAGR 19.1%</a:t>
            </a:r>
            <a:endParaRPr lang="en-US" sz="1100" dirty="0"/>
          </a:p>
        </p:txBody>
      </p:sp>
      <p:sp>
        <p:nvSpPr>
          <p:cNvPr id="23" name="Text 18"/>
          <p:cNvSpPr txBox="1"/>
          <p:nvPr/>
        </p:nvSpPr>
        <p:spPr>
          <a:xfrm>
            <a:off x="548640" y="6172200"/>
            <a:ext cx="5669280" cy="274320"/>
          </a:xfrm>
          <a:prstGeom prst="rect">
            <a:avLst/>
          </a:prstGeom>
          <a:noFill/>
          <a:ln/>
        </p:spPr>
        <p:txBody>
          <a:bodyPr wrap="square" lIns="0" tIns="0" rIns="0" bIns="0" rtlCol="0" anchor="t"/>
          <a:lstStyle/>
          <a:p>
            <a:pPr indent="0" marL="0">
              <a:buNone/>
            </a:pPr>
            <a:r>
              <a:rPr lang="en-US" sz="1000" b="1" spc="150" kern="0" dirty="0">
                <a:solidFill>
                  <a:schemeClr val="tx2"/>
                </a:solidFill>
              </a:rPr>
              <a:t>GROUP PROJECT · DATA AS OF 13 OCT 2026</a:t>
            </a:r>
            <a:endParaRPr lang="en-US" sz="1000" dirty="0"/>
          </a:p>
        </p:txBody>
      </p:sp>
      <p:sp>
        <p:nvSpPr>
          <p:cNvPr id="24" name="Text 19"/>
          <p:cNvSpPr txBox="1"/>
          <p:nvPr/>
        </p:nvSpPr>
        <p:spPr>
          <a:xfrm>
            <a:off x="8229600" y="1097280"/>
            <a:ext cx="347472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THE PORTFOLIO WE BUILT</a:t>
            </a:r>
            <a:endParaRPr lang="en-US" sz="1000" dirty="0"/>
          </a:p>
        </p:txBody>
      </p:sp>
      <p:graphicFrame>
        <p:nvGraphicFramePr>
          <p:cNvPr id="25" name="cover-weights" descr=""/>
          <p:cNvGraphicFramePr/>
          <p:nvPr/>
        </p:nvGraphicFramePr>
        <p:xfrm>
          <a:off x="8595360" y="1371600"/>
          <a:ext cx="2697480" cy="2697480"/>
        </p:xfrm>
        <a:graphic xmlns:a="http://schemas.openxmlformats.org/drawingml/2006/main">
          <a:graphicData uri="http://schemas.openxmlformats.org/drawingml/2006/chart">
            <c:chart xmlns:c="http://schemas.openxmlformats.org/drawingml/2006/chart" r:id="rId4"/>
          </a:graphicData>
        </a:graphic>
      </p:graphicFrame>
      <p:sp>
        <p:nvSpPr>
          <p:cNvPr id="26" name="Text 20"/>
          <p:cNvSpPr txBox="1"/>
          <p:nvPr/>
        </p:nvSpPr>
        <p:spPr>
          <a:xfrm>
            <a:off x="9395460" y="2331720"/>
            <a:ext cx="1097280" cy="502920"/>
          </a:xfrm>
          <a:prstGeom prst="rect">
            <a:avLst/>
          </a:prstGeom>
          <a:noFill/>
          <a:ln/>
        </p:spPr>
        <p:txBody>
          <a:bodyPr wrap="square" lIns="0" tIns="0" rIns="0" bIns="0" rtlCol="0" anchor="t"/>
          <a:lstStyle/>
          <a:p>
            <a:pPr algn="ctr" indent="0" marL="0">
              <a:buNone/>
            </a:pPr>
            <a:r>
              <a:rPr lang="en-US" sz="3000" b="1" dirty="0">
                <a:solidFill>
                  <a:schemeClr val="bg1"/>
                </a:solidFill>
                <a:latin typeface="Century Gothic" pitchFamily="34" charset="0"/>
                <a:ea typeface="Century Gothic" pitchFamily="34" charset="-122"/>
                <a:cs typeface="Century Gothic" pitchFamily="34" charset="-120"/>
              </a:rPr>
              <a:t>P</a:t>
            </a:r>
            <a:endParaRPr lang="en-US" sz="3000" dirty="0"/>
          </a:p>
        </p:txBody>
      </p:sp>
      <p:sp>
        <p:nvSpPr>
          <p:cNvPr id="27" name="Text 21"/>
          <p:cNvSpPr txBox="1"/>
          <p:nvPr/>
        </p:nvSpPr>
        <p:spPr>
          <a:xfrm>
            <a:off x="9212580" y="2834640"/>
            <a:ext cx="1463040" cy="274320"/>
          </a:xfrm>
          <a:prstGeom prst="rect">
            <a:avLst/>
          </a:prstGeom>
          <a:noFill/>
          <a:ln/>
        </p:spPr>
        <p:txBody>
          <a:bodyPr wrap="square" lIns="0" tIns="0" rIns="0" bIns="0" rtlCol="0" anchor="t"/>
          <a:lstStyle/>
          <a:p>
            <a:pPr algn="ctr" indent="0" marL="0">
              <a:buNone/>
            </a:pPr>
            <a:r>
              <a:rPr lang="en-US" sz="1000" b="1" spc="100" kern="0" dirty="0">
                <a:solidFill>
                  <a:schemeClr val="accent6"/>
                </a:solidFill>
              </a:rPr>
              <a:t>SHARPE 0.34</a:t>
            </a:r>
            <a:endParaRPr lang="en-US" sz="1000" dirty="0"/>
          </a:p>
        </p:txBody>
      </p:sp>
      <p:sp>
        <p:nvSpPr>
          <p:cNvPr id="28" name="Shape 22"/>
          <p:cNvSpPr/>
          <p:nvPr/>
        </p:nvSpPr>
        <p:spPr>
          <a:xfrm>
            <a:off x="8229600" y="4206240"/>
            <a:ext cx="3520440" cy="0"/>
          </a:xfrm>
          <a:prstGeom prst="line">
            <a:avLst/>
          </a:prstGeom>
          <a:noFill/>
          <a:ln w="9525">
            <a:solidFill>
              <a:schemeClr val="accent5"/>
            </a:solidFill>
            <a:prstDash val="solid"/>
          </a:ln>
        </p:spPr>
      </p:sp>
      <p:sp>
        <p:nvSpPr>
          <p:cNvPr id="29" name="Text 23"/>
          <p:cNvSpPr txBox="1"/>
          <p:nvPr/>
        </p:nvSpPr>
        <p:spPr>
          <a:xfrm>
            <a:off x="8229600" y="4297680"/>
            <a:ext cx="1783080" cy="457200"/>
          </a:xfrm>
          <a:prstGeom prst="rect">
            <a:avLst/>
          </a:prstGeom>
          <a:noFill/>
          <a:ln/>
        </p:spPr>
        <p:txBody>
          <a:bodyPr wrap="square" lIns="0" tIns="0" rIns="0" bIns="0" rtlCol="0" anchor="ctr"/>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₹64.8 lakh</a:t>
            </a:r>
            <a:endParaRPr lang="en-US" sz="2000" dirty="0"/>
          </a:p>
        </p:txBody>
      </p:sp>
      <p:sp>
        <p:nvSpPr>
          <p:cNvPr id="30" name="Text 24"/>
          <p:cNvSpPr txBox="1"/>
          <p:nvPr/>
        </p:nvSpPr>
        <p:spPr>
          <a:xfrm>
            <a:off x="10058400" y="4297680"/>
            <a:ext cx="1691640" cy="457200"/>
          </a:xfrm>
          <a:prstGeom prst="rect">
            <a:avLst/>
          </a:prstGeom>
          <a:noFill/>
          <a:ln/>
        </p:spPr>
        <p:txBody>
          <a:bodyPr wrap="square" lIns="0" tIns="0" rIns="0" bIns="0" rtlCol="0" anchor="ctr"/>
          <a:lstStyle/>
          <a:p>
            <a:pPr indent="0" marL="0">
              <a:buNone/>
            </a:pPr>
            <a:r>
              <a:rPr lang="en-US" sz="900" b="1" dirty="0">
                <a:solidFill>
                  <a:schemeClr val="accent6"/>
                </a:solidFill>
              </a:rPr>
              <a:t>MEDIAN 15-YEAR CORPUS FROM A ₹10,000 MONTHLY SIP</a:t>
            </a:r>
            <a:endParaRPr lang="en-US" sz="900" dirty="0"/>
          </a:p>
        </p:txBody>
      </p:sp>
      <p:sp>
        <p:nvSpPr>
          <p:cNvPr id="31" name="Shape 25"/>
          <p:cNvSpPr/>
          <p:nvPr/>
        </p:nvSpPr>
        <p:spPr>
          <a:xfrm>
            <a:off x="8229600" y="4919472"/>
            <a:ext cx="3520440" cy="0"/>
          </a:xfrm>
          <a:prstGeom prst="line">
            <a:avLst/>
          </a:prstGeom>
          <a:noFill/>
          <a:ln w="9525">
            <a:solidFill>
              <a:schemeClr val="accent5"/>
            </a:solidFill>
            <a:prstDash val="solid"/>
          </a:ln>
        </p:spPr>
      </p:sp>
      <p:sp>
        <p:nvSpPr>
          <p:cNvPr id="32" name="Text 26"/>
          <p:cNvSpPr txBox="1"/>
          <p:nvPr/>
        </p:nvSpPr>
        <p:spPr>
          <a:xfrm>
            <a:off x="8229600" y="5010912"/>
            <a:ext cx="1783080" cy="457200"/>
          </a:xfrm>
          <a:prstGeom prst="rect">
            <a:avLst/>
          </a:prstGeom>
          <a:noFill/>
          <a:ln/>
        </p:spPr>
        <p:txBody>
          <a:bodyPr wrap="square" lIns="0" tIns="0" rIns="0" bIns="0" rtlCol="0" anchor="ctr"/>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44 / 47</a:t>
            </a:r>
            <a:endParaRPr lang="en-US" sz="2000" dirty="0"/>
          </a:p>
        </p:txBody>
      </p:sp>
      <p:sp>
        <p:nvSpPr>
          <p:cNvPr id="33" name="Text 27"/>
          <p:cNvSpPr txBox="1"/>
          <p:nvPr/>
        </p:nvSpPr>
        <p:spPr>
          <a:xfrm>
            <a:off x="10058400" y="5010912"/>
            <a:ext cx="1691640" cy="457200"/>
          </a:xfrm>
          <a:prstGeom prst="rect">
            <a:avLst/>
          </a:prstGeom>
          <a:noFill/>
          <a:ln/>
        </p:spPr>
        <p:txBody>
          <a:bodyPr wrap="square" lIns="0" tIns="0" rIns="0" bIns="0" rtlCol="0" anchor="ctr"/>
          <a:lstStyle/>
          <a:p>
            <a:pPr indent="0" marL="0">
              <a:buNone/>
            </a:pPr>
            <a:r>
              <a:rPr lang="en-US" sz="900" b="1" dirty="0">
                <a:solidFill>
                  <a:schemeClr val="accent6"/>
                </a:solidFill>
              </a:rPr>
              <a:t>AI-EXTRACTED FIGURES WITHIN 1% OF YAHOO AND SCREENER</a:t>
            </a:r>
            <a:endParaRPr lang="en-US" sz="900" dirty="0"/>
          </a:p>
        </p:txBody>
      </p:sp>
      <p:sp>
        <p:nvSpPr>
          <p:cNvPr id="34" name="Shape 28"/>
          <p:cNvSpPr/>
          <p:nvPr/>
        </p:nvSpPr>
        <p:spPr>
          <a:xfrm>
            <a:off x="8229600" y="5632704"/>
            <a:ext cx="3520440" cy="0"/>
          </a:xfrm>
          <a:prstGeom prst="line">
            <a:avLst/>
          </a:prstGeom>
          <a:noFill/>
          <a:ln w="9525">
            <a:solidFill>
              <a:schemeClr val="accent5"/>
            </a:solidFill>
            <a:prstDash val="solid"/>
          </a:ln>
        </p:spPr>
      </p:sp>
      <p:sp>
        <p:nvSpPr>
          <p:cNvPr id="35" name="Text 29"/>
          <p:cNvSpPr txBox="1"/>
          <p:nvPr/>
        </p:nvSpPr>
        <p:spPr>
          <a:xfrm>
            <a:off x="8229600" y="5724144"/>
            <a:ext cx="1783080" cy="457200"/>
          </a:xfrm>
          <a:prstGeom prst="rect">
            <a:avLst/>
          </a:prstGeom>
          <a:noFill/>
          <a:ln/>
        </p:spPr>
        <p:txBody>
          <a:bodyPr wrap="square" lIns="0" tIns="0" rIns="0" bIns="0" rtlCol="0" anchor="ctr"/>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0 of 8</a:t>
            </a:r>
            <a:endParaRPr lang="en-US" sz="2000" dirty="0"/>
          </a:p>
        </p:txBody>
      </p:sp>
      <p:sp>
        <p:nvSpPr>
          <p:cNvPr id="36" name="Text 30"/>
          <p:cNvSpPr txBox="1"/>
          <p:nvPr/>
        </p:nvSpPr>
        <p:spPr>
          <a:xfrm>
            <a:off x="10058400" y="5724144"/>
            <a:ext cx="1691640" cy="457200"/>
          </a:xfrm>
          <a:prstGeom prst="rect">
            <a:avLst/>
          </a:prstGeom>
          <a:noFill/>
          <a:ln/>
        </p:spPr>
        <p:txBody>
          <a:bodyPr wrap="square" lIns="0" tIns="0" rIns="0" bIns="0" rtlCol="0" anchor="ctr"/>
          <a:lstStyle/>
          <a:p>
            <a:pPr indent="0" marL="0">
              <a:buNone/>
            </a:pPr>
            <a:r>
              <a:rPr lang="en-US" sz="900" b="1" dirty="0">
                <a:solidFill>
                  <a:schemeClr val="accent6"/>
                </a:solidFill>
              </a:rPr>
              <a:t>TRADING RULES THAT BEAT BUY-AND-HOLD AFTER COSTS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72237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01 - THE PICKS</a:t>
            </a:r>
            <a:endParaRPr lang="en-US" sz="1000" dirty="0"/>
          </a:p>
        </p:txBody>
      </p:sp>
      <p:sp>
        <p:nvSpPr>
          <p:cNvPr id="3" name="Text 2"/>
          <p:cNvSpPr/>
          <p:nvPr>
            <p:ph idx="103" type="title" hasCustomPrompt="1"/>
          </p:nvPr>
        </p:nvSpPr>
        <p:spPr>
          <a:xfrm>
            <a:off x="548640" y="731520"/>
            <a:ext cx="7223760" cy="960120"/>
          </a:xfrm>
          <a:prstGeom prst="rect">
            <a:avLst/>
          </a:prstGeom>
          <a:noFill/>
          <a:ln/>
        </p:spPr>
        <p:txBody>
          <a:bodyPr wrap="square" lIns="0" tIns="0" rIns="0" bIns="0" rtlCol="0" anchor="t"/>
          <a:lstStyle/>
          <a:p>
            <a:pPr algn="l" indent="0" marL="0">
              <a:buNone/>
            </a:pPr>
            <a:r>
              <a:rPr lang="en-US" sz="2800" b="1" dirty="0">
                <a:solidFill>
                  <a:schemeClr val="accent1"/>
                </a:solidFill>
              </a:rPr>
              <a:t>THREE SECTORS, THREE DIFFERENT DRIVERS</a:t>
            </a:r>
            <a:endParaRPr lang="en-US" sz="2800" dirty="0"/>
          </a:p>
        </p:txBody>
      </p:sp>
      <p:sp>
        <p:nvSpPr>
          <p:cNvPr id="4" name="Text 2"/>
          <p:cNvSpPr/>
          <p:nvPr>
            <p:ph idx="104" type="body" hasCustomPrompt="1"/>
          </p:nvPr>
        </p:nvSpPr>
        <p:spPr>
          <a:xfrm>
            <a:off x="548640" y="1783080"/>
            <a:ext cx="7223760" cy="457200"/>
          </a:xfrm>
          <a:prstGeom prst="rect">
            <a:avLst/>
          </a:prstGeom>
          <a:noFill/>
          <a:ln/>
        </p:spPr>
        <p:txBody>
          <a:bodyPr wrap="square" lIns="0" tIns="0" rIns="0" bIns="0" rtlCol="0" anchor="t"/>
          <a:lstStyle/>
          <a:p>
            <a:pPr algn="l" indent="0" marL="0">
              <a:buNone/>
            </a:pPr>
            <a:r>
              <a:rPr lang="en-US" sz="1400" dirty="0">
                <a:solidFill>
                  <a:schemeClr val="tx1"/>
                </a:solidFill>
              </a:rPr>
              <a:t>Top-down: an investment-led economy, then three businesses driven by different demand.</a:t>
            </a:r>
            <a:endParaRPr lang="en-US" sz="1400" dirty="0"/>
          </a:p>
        </p:txBody>
      </p:sp>
      <p:sp>
        <p:nvSpPr>
          <p:cNvPr id="5" name="macro-0"/>
          <p:cNvSpPr/>
          <p:nvPr/>
        </p:nvSpPr>
        <p:spPr>
          <a:xfrm>
            <a:off x="548640" y="2331720"/>
            <a:ext cx="1682496" cy="896112"/>
          </a:xfrm>
          <a:prstGeom prst="rect">
            <a:avLst/>
          </a:prstGeom>
          <a:solidFill>
            <a:schemeClr val="bg1"/>
          </a:solidFill>
          <a:ln w="9525">
            <a:solidFill>
              <a:schemeClr val="accent6"/>
            </a:solidFill>
            <a:prstDash val="solid"/>
          </a:ln>
        </p:spPr>
      </p:sp>
      <p:sp>
        <p:nvSpPr>
          <p:cNvPr id="6" name="Text 4"/>
          <p:cNvSpPr txBox="1"/>
          <p:nvPr/>
        </p:nvSpPr>
        <p:spPr>
          <a:xfrm>
            <a:off x="685800" y="2423160"/>
            <a:ext cx="1463040" cy="384048"/>
          </a:xfrm>
          <a:prstGeom prst="rect">
            <a:avLst/>
          </a:prstGeom>
          <a:noFill/>
          <a:ln/>
        </p:spPr>
        <p:txBody>
          <a:bodyPr wrap="square" lIns="0" tIns="0" rIns="0" bIns="0" rtlCol="0" anchor="t"/>
          <a:lstStyle/>
          <a:p>
            <a:pPr indent="0" marL="0">
              <a:buNone/>
            </a:pPr>
            <a:r>
              <a:rPr lang="en-US" sz="2200" b="1" dirty="0">
                <a:solidFill>
                  <a:schemeClr val="accent1"/>
                </a:solidFill>
                <a:latin typeface="Century Gothic" pitchFamily="34" charset="0"/>
                <a:ea typeface="Century Gothic" pitchFamily="34" charset="-122"/>
                <a:cs typeface="Century Gothic" pitchFamily="34" charset="-120"/>
              </a:rPr>
              <a:t>7.8%</a:t>
            </a:r>
            <a:endParaRPr lang="en-US" sz="2200" dirty="0"/>
          </a:p>
        </p:txBody>
      </p:sp>
      <p:sp>
        <p:nvSpPr>
          <p:cNvPr id="7" name="Text 5"/>
          <p:cNvSpPr txBox="1"/>
          <p:nvPr/>
        </p:nvSpPr>
        <p:spPr>
          <a:xfrm>
            <a:off x="685800" y="2816352"/>
            <a:ext cx="1463040" cy="365760"/>
          </a:xfrm>
          <a:prstGeom prst="rect">
            <a:avLst/>
          </a:prstGeom>
          <a:noFill/>
          <a:ln/>
        </p:spPr>
        <p:txBody>
          <a:bodyPr wrap="square" lIns="0" tIns="0" rIns="0" bIns="0" rtlCol="0" anchor="t"/>
          <a:lstStyle/>
          <a:p>
            <a:pPr indent="0" marL="0">
              <a:buNone/>
            </a:pPr>
            <a:r>
              <a:rPr lang="en-US" sz="1000" b="1" dirty="0">
                <a:solidFill>
                  <a:schemeClr val="tx2"/>
                </a:solidFill>
              </a:rPr>
              <a:t>REAL GDP GROWTH, Q1 FY27</a:t>
            </a:r>
            <a:endParaRPr lang="en-US" sz="1000" dirty="0"/>
          </a:p>
        </p:txBody>
      </p:sp>
      <p:sp>
        <p:nvSpPr>
          <p:cNvPr id="8" name="macro-1"/>
          <p:cNvSpPr/>
          <p:nvPr/>
        </p:nvSpPr>
        <p:spPr>
          <a:xfrm>
            <a:off x="2386584" y="2331720"/>
            <a:ext cx="1682496" cy="896112"/>
          </a:xfrm>
          <a:prstGeom prst="rect">
            <a:avLst/>
          </a:prstGeom>
          <a:solidFill>
            <a:schemeClr val="bg1"/>
          </a:solidFill>
          <a:ln w="9525">
            <a:solidFill>
              <a:schemeClr val="accent6"/>
            </a:solidFill>
            <a:prstDash val="solid"/>
          </a:ln>
        </p:spPr>
      </p:sp>
      <p:sp>
        <p:nvSpPr>
          <p:cNvPr id="9" name="Text 7"/>
          <p:cNvSpPr txBox="1"/>
          <p:nvPr/>
        </p:nvSpPr>
        <p:spPr>
          <a:xfrm>
            <a:off x="2523744" y="2423160"/>
            <a:ext cx="1463040" cy="384048"/>
          </a:xfrm>
          <a:prstGeom prst="rect">
            <a:avLst/>
          </a:prstGeom>
          <a:noFill/>
          <a:ln/>
        </p:spPr>
        <p:txBody>
          <a:bodyPr wrap="square" lIns="0" tIns="0" rIns="0" bIns="0" rtlCol="0" anchor="t"/>
          <a:lstStyle/>
          <a:p>
            <a:pPr indent="0" marL="0">
              <a:buNone/>
            </a:pPr>
            <a:r>
              <a:rPr lang="en-US" sz="2200" b="1" dirty="0">
                <a:solidFill>
                  <a:schemeClr val="accent1"/>
                </a:solidFill>
                <a:latin typeface="Century Gothic" pitchFamily="34" charset="0"/>
                <a:ea typeface="Century Gothic" pitchFamily="34" charset="-122"/>
                <a:cs typeface="Century Gothic" pitchFamily="34" charset="-120"/>
              </a:rPr>
              <a:t>+11.9%</a:t>
            </a:r>
            <a:endParaRPr lang="en-US" sz="2200" dirty="0"/>
          </a:p>
        </p:txBody>
      </p:sp>
      <p:sp>
        <p:nvSpPr>
          <p:cNvPr id="10" name="Text 8"/>
          <p:cNvSpPr txBox="1"/>
          <p:nvPr/>
        </p:nvSpPr>
        <p:spPr>
          <a:xfrm>
            <a:off x="2523744" y="2816352"/>
            <a:ext cx="1463040" cy="365760"/>
          </a:xfrm>
          <a:prstGeom prst="rect">
            <a:avLst/>
          </a:prstGeom>
          <a:noFill/>
          <a:ln/>
        </p:spPr>
        <p:txBody>
          <a:bodyPr wrap="square" lIns="0" tIns="0" rIns="0" bIns="0" rtlCol="0" anchor="t"/>
          <a:lstStyle/>
          <a:p>
            <a:pPr indent="0" marL="0">
              <a:buNone/>
            </a:pPr>
            <a:r>
              <a:rPr lang="en-US" sz="1000" b="1" dirty="0">
                <a:solidFill>
                  <a:schemeClr val="tx2"/>
                </a:solidFill>
              </a:rPr>
              <a:t>INVESTMENT (GFCF) GROWTH</a:t>
            </a:r>
            <a:endParaRPr lang="en-US" sz="1000" dirty="0"/>
          </a:p>
        </p:txBody>
      </p:sp>
      <p:sp>
        <p:nvSpPr>
          <p:cNvPr id="11" name="macro-2"/>
          <p:cNvSpPr/>
          <p:nvPr/>
        </p:nvSpPr>
        <p:spPr>
          <a:xfrm>
            <a:off x="4224528" y="2331720"/>
            <a:ext cx="1682496" cy="896112"/>
          </a:xfrm>
          <a:prstGeom prst="rect">
            <a:avLst/>
          </a:prstGeom>
          <a:solidFill>
            <a:schemeClr val="bg1"/>
          </a:solidFill>
          <a:ln w="9525">
            <a:solidFill>
              <a:schemeClr val="accent6"/>
            </a:solidFill>
            <a:prstDash val="solid"/>
          </a:ln>
        </p:spPr>
      </p:sp>
      <p:sp>
        <p:nvSpPr>
          <p:cNvPr id="12" name="Text 10"/>
          <p:cNvSpPr txBox="1"/>
          <p:nvPr/>
        </p:nvSpPr>
        <p:spPr>
          <a:xfrm>
            <a:off x="4361688" y="2423160"/>
            <a:ext cx="1463040" cy="384048"/>
          </a:xfrm>
          <a:prstGeom prst="rect">
            <a:avLst/>
          </a:prstGeom>
          <a:noFill/>
          <a:ln/>
        </p:spPr>
        <p:txBody>
          <a:bodyPr wrap="square" lIns="0" tIns="0" rIns="0" bIns="0" rtlCol="0" anchor="t"/>
          <a:lstStyle/>
          <a:p>
            <a:pPr indent="0" marL="0">
              <a:buNone/>
            </a:pPr>
            <a:r>
              <a:rPr lang="en-US" sz="2200" b="1" dirty="0">
                <a:solidFill>
                  <a:schemeClr val="accent1"/>
                </a:solidFill>
                <a:latin typeface="Century Gothic" pitchFamily="34" charset="0"/>
                <a:ea typeface="Century Gothic" pitchFamily="34" charset="-122"/>
                <a:cs typeface="Century Gothic" pitchFamily="34" charset="-120"/>
              </a:rPr>
              <a:t>5.25%</a:t>
            </a:r>
            <a:endParaRPr lang="en-US" sz="2200" dirty="0"/>
          </a:p>
        </p:txBody>
      </p:sp>
      <p:sp>
        <p:nvSpPr>
          <p:cNvPr id="13" name="Text 11"/>
          <p:cNvSpPr txBox="1"/>
          <p:nvPr/>
        </p:nvSpPr>
        <p:spPr>
          <a:xfrm>
            <a:off x="4361688" y="2816352"/>
            <a:ext cx="1463040" cy="365760"/>
          </a:xfrm>
          <a:prstGeom prst="rect">
            <a:avLst/>
          </a:prstGeom>
          <a:noFill/>
          <a:ln/>
        </p:spPr>
        <p:txBody>
          <a:bodyPr wrap="square" lIns="0" tIns="0" rIns="0" bIns="0" rtlCol="0" anchor="t"/>
          <a:lstStyle/>
          <a:p>
            <a:pPr indent="0" marL="0">
              <a:buNone/>
            </a:pPr>
            <a:r>
              <a:rPr lang="en-US" sz="1000" b="1" dirty="0">
                <a:solidFill>
                  <a:schemeClr val="tx2"/>
                </a:solidFill>
              </a:rPr>
              <a:t>RBI REPO RATE</a:t>
            </a:r>
            <a:endParaRPr lang="en-US" sz="1000" dirty="0"/>
          </a:p>
        </p:txBody>
      </p:sp>
      <p:sp>
        <p:nvSpPr>
          <p:cNvPr id="14" name="macro-3"/>
          <p:cNvSpPr/>
          <p:nvPr/>
        </p:nvSpPr>
        <p:spPr>
          <a:xfrm>
            <a:off x="6062472" y="2331720"/>
            <a:ext cx="1682496" cy="896112"/>
          </a:xfrm>
          <a:prstGeom prst="rect">
            <a:avLst/>
          </a:prstGeom>
          <a:solidFill>
            <a:schemeClr val="bg1"/>
          </a:solidFill>
          <a:ln w="9525">
            <a:solidFill>
              <a:schemeClr val="accent6"/>
            </a:solidFill>
            <a:prstDash val="solid"/>
          </a:ln>
        </p:spPr>
      </p:sp>
      <p:sp>
        <p:nvSpPr>
          <p:cNvPr id="15" name="Text 13"/>
          <p:cNvSpPr txBox="1"/>
          <p:nvPr/>
        </p:nvSpPr>
        <p:spPr>
          <a:xfrm>
            <a:off x="6199632" y="2423160"/>
            <a:ext cx="1463040" cy="384048"/>
          </a:xfrm>
          <a:prstGeom prst="rect">
            <a:avLst/>
          </a:prstGeom>
          <a:noFill/>
          <a:ln/>
        </p:spPr>
        <p:txBody>
          <a:bodyPr wrap="square" lIns="0" tIns="0" rIns="0" bIns="0" rtlCol="0" anchor="t"/>
          <a:lstStyle/>
          <a:p>
            <a:pPr indent="0" marL="0">
              <a:buNone/>
            </a:pPr>
            <a:r>
              <a:rPr lang="en-US" sz="2200" b="1" dirty="0">
                <a:solidFill>
                  <a:schemeClr val="accent1"/>
                </a:solidFill>
                <a:latin typeface="Century Gothic" pitchFamily="34" charset="0"/>
                <a:ea typeface="Century Gothic" pitchFamily="34" charset="-122"/>
                <a:cs typeface="Century Gothic" pitchFamily="34" charset="-120"/>
              </a:rPr>
              <a:t>5.52%</a:t>
            </a:r>
            <a:endParaRPr lang="en-US" sz="2200" dirty="0"/>
          </a:p>
        </p:txBody>
      </p:sp>
      <p:sp>
        <p:nvSpPr>
          <p:cNvPr id="16" name="Text 14"/>
          <p:cNvSpPr txBox="1"/>
          <p:nvPr/>
        </p:nvSpPr>
        <p:spPr>
          <a:xfrm>
            <a:off x="6199632" y="2816352"/>
            <a:ext cx="1463040" cy="365760"/>
          </a:xfrm>
          <a:prstGeom prst="rect">
            <a:avLst/>
          </a:prstGeom>
          <a:noFill/>
          <a:ln/>
        </p:spPr>
        <p:txBody>
          <a:bodyPr wrap="square" lIns="0" tIns="0" rIns="0" bIns="0" rtlCol="0" anchor="t"/>
          <a:lstStyle/>
          <a:p>
            <a:pPr indent="0" marL="0">
              <a:buNone/>
            </a:pPr>
            <a:r>
              <a:rPr lang="en-US" sz="1000" b="1" dirty="0">
                <a:solidFill>
                  <a:schemeClr val="tx2"/>
                </a:solidFill>
              </a:rPr>
              <a:t>91-DAY T-BILL RATE</a:t>
            </a:r>
            <a:endParaRPr lang="en-US" sz="1000" dirty="0"/>
          </a:p>
        </p:txBody>
      </p:sp>
      <p:sp>
        <p:nvSpPr>
          <p:cNvPr id="17" name="pick-HUL"/>
          <p:cNvSpPr/>
          <p:nvPr/>
        </p:nvSpPr>
        <p:spPr>
          <a:xfrm>
            <a:off x="548640" y="3429000"/>
            <a:ext cx="2304288" cy="2697480"/>
          </a:xfrm>
          <a:prstGeom prst="rect">
            <a:avLst/>
          </a:prstGeom>
          <a:solidFill>
            <a:schemeClr val="bg1"/>
          </a:solidFill>
          <a:ln w="9525">
            <a:solidFill>
              <a:schemeClr val="accent6"/>
            </a:solidFill>
            <a:prstDash val="solid"/>
          </a:ln>
        </p:spPr>
      </p:sp>
      <p:sp>
        <p:nvSpPr>
          <p:cNvPr id="18" name="Shape 16"/>
          <p:cNvSpPr/>
          <p:nvPr/>
        </p:nvSpPr>
        <p:spPr>
          <a:xfrm>
            <a:off x="713232" y="3611880"/>
            <a:ext cx="1325880" cy="274320"/>
          </a:xfrm>
          <a:prstGeom prst="rect">
            <a:avLst/>
          </a:prstGeom>
          <a:solidFill>
            <a:schemeClr val="accent3"/>
          </a:solidFill>
          <a:ln w="12700">
            <a:solidFill>
              <a:schemeClr val="accent3"/>
            </a:solidFill>
            <a:prstDash val="solid"/>
          </a:ln>
        </p:spPr>
      </p:sp>
      <p:sp>
        <p:nvSpPr>
          <p:cNvPr id="19" name="Text 17"/>
          <p:cNvSpPr txBox="1"/>
          <p:nvPr/>
        </p:nvSpPr>
        <p:spPr>
          <a:xfrm>
            <a:off x="713232" y="3611880"/>
            <a:ext cx="13258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FMCG</a:t>
            </a:r>
            <a:endParaRPr lang="en-US" sz="1000" dirty="0"/>
          </a:p>
        </p:txBody>
      </p:sp>
      <p:sp>
        <p:nvSpPr>
          <p:cNvPr id="20" name="Text 18"/>
          <p:cNvSpPr txBox="1"/>
          <p:nvPr/>
        </p:nvSpPr>
        <p:spPr>
          <a:xfrm>
            <a:off x="713232" y="4023360"/>
            <a:ext cx="2011680" cy="365760"/>
          </a:xfrm>
          <a:prstGeom prst="rect">
            <a:avLst/>
          </a:prstGeom>
          <a:noFill/>
          <a:ln/>
        </p:spPr>
        <p:txBody>
          <a:bodyPr wrap="square" lIns="0" tIns="0" rIns="0" bIns="0" rtlCol="0" anchor="t"/>
          <a:lstStyle/>
          <a:p>
            <a:pPr indent="0" marL="0">
              <a:buNone/>
            </a:pPr>
            <a:r>
              <a:rPr lang="en-US" sz="1700" b="1" dirty="0">
                <a:solidFill>
                  <a:schemeClr val="tx1"/>
                </a:solidFill>
              </a:rPr>
              <a:t>Hindustan Unilever</a:t>
            </a:r>
            <a:endParaRPr lang="en-US" sz="1700" dirty="0"/>
          </a:p>
        </p:txBody>
      </p:sp>
      <p:sp>
        <p:nvSpPr>
          <p:cNvPr id="21" name="Text 19"/>
          <p:cNvSpPr txBox="1"/>
          <p:nvPr/>
        </p:nvSpPr>
        <p:spPr>
          <a:xfrm>
            <a:off x="713232" y="4434840"/>
            <a:ext cx="2011680" cy="256032"/>
          </a:xfrm>
          <a:prstGeom prst="rect">
            <a:avLst/>
          </a:prstGeom>
          <a:noFill/>
          <a:ln/>
        </p:spPr>
        <p:txBody>
          <a:bodyPr wrap="square" lIns="0" tIns="0" rIns="0" bIns="0" rtlCol="0" anchor="t"/>
          <a:lstStyle/>
          <a:p>
            <a:pPr indent="0" marL="0">
              <a:buNone/>
            </a:pPr>
            <a:r>
              <a:rPr lang="en-US" sz="1000" b="1" spc="100" kern="0" dirty="0">
                <a:solidFill>
                  <a:schemeClr val="accent1"/>
                </a:solidFill>
              </a:rPr>
              <a:t>DEFENSIVE ANCHOR</a:t>
            </a:r>
            <a:endParaRPr lang="en-US" sz="1000" dirty="0"/>
          </a:p>
        </p:txBody>
      </p:sp>
      <p:sp>
        <p:nvSpPr>
          <p:cNvPr id="22" name="Text 20"/>
          <p:cNvSpPr txBox="1"/>
          <p:nvPr/>
        </p:nvSpPr>
        <p:spPr>
          <a:xfrm>
            <a:off x="713232" y="4754880"/>
            <a:ext cx="2011680" cy="914400"/>
          </a:xfrm>
          <a:prstGeom prst="rect">
            <a:avLst/>
          </a:prstGeom>
          <a:noFill/>
          <a:ln/>
        </p:spPr>
        <p:txBody>
          <a:bodyPr wrap="square" lIns="0" tIns="0" rIns="0" bIns="0" rtlCol="0" anchor="t"/>
          <a:lstStyle/>
          <a:p>
            <a:pPr indent="0" marL="0">
              <a:buNone/>
            </a:pPr>
            <a:r>
              <a:rPr lang="en-US" sz="1400" dirty="0">
                <a:solidFill>
                  <a:schemeClr val="tx1"/>
                </a:solidFill>
              </a:rPr>
              <a:t>Lowest beta in the weakest sector: out-of-favour quality.</a:t>
            </a:r>
            <a:endParaRPr lang="en-US" sz="1400" dirty="0"/>
          </a:p>
        </p:txBody>
      </p:sp>
      <p:sp>
        <p:nvSpPr>
          <p:cNvPr id="23" name="Text 21"/>
          <p:cNvSpPr txBox="1"/>
          <p:nvPr/>
        </p:nvSpPr>
        <p:spPr>
          <a:xfrm>
            <a:off x="713232" y="5715000"/>
            <a:ext cx="2011680" cy="256032"/>
          </a:xfrm>
          <a:prstGeom prst="rect">
            <a:avLst/>
          </a:prstGeom>
          <a:noFill/>
          <a:ln/>
        </p:spPr>
        <p:txBody>
          <a:bodyPr wrap="square" lIns="0" tIns="0" rIns="0" bIns="0" rtlCol="0" anchor="t"/>
          <a:lstStyle/>
          <a:p>
            <a:pPr indent="0" marL="0">
              <a:buNone/>
            </a:pPr>
            <a:r>
              <a:rPr lang="en-US" sz="1100" b="1" dirty="0">
                <a:solidFill>
                  <a:schemeClr val="tx2"/>
                </a:solidFill>
              </a:rPr>
              <a:t>β 0.60 · CAGR 9.6%</a:t>
            </a:r>
            <a:endParaRPr lang="en-US" sz="1100" dirty="0"/>
          </a:p>
        </p:txBody>
      </p:sp>
      <p:sp>
        <p:nvSpPr>
          <p:cNvPr id="24" name="pick-Sun Pharma"/>
          <p:cNvSpPr/>
          <p:nvPr/>
        </p:nvSpPr>
        <p:spPr>
          <a:xfrm>
            <a:off x="3003804" y="3429000"/>
            <a:ext cx="2304288" cy="2697480"/>
          </a:xfrm>
          <a:prstGeom prst="rect">
            <a:avLst/>
          </a:prstGeom>
          <a:solidFill>
            <a:schemeClr val="bg1"/>
          </a:solidFill>
          <a:ln w="9525">
            <a:solidFill>
              <a:schemeClr val="accent6"/>
            </a:solidFill>
            <a:prstDash val="solid"/>
          </a:ln>
        </p:spPr>
      </p:sp>
      <p:sp>
        <p:nvSpPr>
          <p:cNvPr id="25" name="Shape 23"/>
          <p:cNvSpPr/>
          <p:nvPr/>
        </p:nvSpPr>
        <p:spPr>
          <a:xfrm>
            <a:off x="3168396" y="3611880"/>
            <a:ext cx="1325880" cy="274320"/>
          </a:xfrm>
          <a:prstGeom prst="rect">
            <a:avLst/>
          </a:prstGeom>
          <a:solidFill>
            <a:schemeClr val="accent2"/>
          </a:solidFill>
          <a:ln w="12700">
            <a:solidFill>
              <a:schemeClr val="accent2"/>
            </a:solidFill>
            <a:prstDash val="solid"/>
          </a:ln>
        </p:spPr>
      </p:sp>
      <p:sp>
        <p:nvSpPr>
          <p:cNvPr id="26" name="Text 24"/>
          <p:cNvSpPr txBox="1"/>
          <p:nvPr/>
        </p:nvSpPr>
        <p:spPr>
          <a:xfrm>
            <a:off x="3168396" y="3611880"/>
            <a:ext cx="1325880" cy="274320"/>
          </a:xfrm>
          <a:prstGeom prst="rect">
            <a:avLst/>
          </a:prstGeom>
          <a:noFill/>
          <a:ln/>
        </p:spPr>
        <p:txBody>
          <a:bodyPr wrap="square" lIns="0" tIns="0" rIns="0" bIns="0" rtlCol="0" anchor="ctr"/>
          <a:lstStyle/>
          <a:p>
            <a:pPr algn="ctr" indent="0" marL="0">
              <a:buNone/>
            </a:pPr>
            <a:r>
              <a:rPr lang="en-US" sz="1000" b="1" spc="100" kern="0" dirty="0">
                <a:solidFill>
                  <a:schemeClr val="tx1"/>
                </a:solidFill>
              </a:rPr>
              <a:t>PHARMA</a:t>
            </a:r>
            <a:endParaRPr lang="en-US" sz="1000" dirty="0"/>
          </a:p>
        </p:txBody>
      </p:sp>
      <p:sp>
        <p:nvSpPr>
          <p:cNvPr id="27" name="Text 25"/>
          <p:cNvSpPr txBox="1"/>
          <p:nvPr/>
        </p:nvSpPr>
        <p:spPr>
          <a:xfrm>
            <a:off x="3168396" y="4023360"/>
            <a:ext cx="2011680" cy="365760"/>
          </a:xfrm>
          <a:prstGeom prst="rect">
            <a:avLst/>
          </a:prstGeom>
          <a:noFill/>
          <a:ln/>
        </p:spPr>
        <p:txBody>
          <a:bodyPr wrap="square" lIns="0" tIns="0" rIns="0" bIns="0" rtlCol="0" anchor="t"/>
          <a:lstStyle/>
          <a:p>
            <a:pPr indent="0" marL="0">
              <a:buNone/>
            </a:pPr>
            <a:r>
              <a:rPr lang="en-US" sz="1700" b="1" dirty="0">
                <a:solidFill>
                  <a:schemeClr val="tx1"/>
                </a:solidFill>
              </a:rPr>
              <a:t>Sun Pharma</a:t>
            </a:r>
            <a:endParaRPr lang="en-US" sz="1700" dirty="0"/>
          </a:p>
        </p:txBody>
      </p:sp>
      <p:sp>
        <p:nvSpPr>
          <p:cNvPr id="28" name="Text 26"/>
          <p:cNvSpPr txBox="1"/>
          <p:nvPr/>
        </p:nvSpPr>
        <p:spPr>
          <a:xfrm>
            <a:off x="3168396" y="4434840"/>
            <a:ext cx="2011680" cy="256032"/>
          </a:xfrm>
          <a:prstGeom prst="rect">
            <a:avLst/>
          </a:prstGeom>
          <a:noFill/>
          <a:ln/>
        </p:spPr>
        <p:txBody>
          <a:bodyPr wrap="square" lIns="0" tIns="0" rIns="0" bIns="0" rtlCol="0" anchor="t"/>
          <a:lstStyle/>
          <a:p>
            <a:pPr indent="0" marL="0">
              <a:buNone/>
            </a:pPr>
            <a:r>
              <a:rPr lang="en-US" sz="1000" b="1" spc="100" kern="0" dirty="0">
                <a:solidFill>
                  <a:schemeClr val="accent1"/>
                </a:solidFill>
              </a:rPr>
              <a:t>DEFENSIVE GROWTH</a:t>
            </a:r>
            <a:endParaRPr lang="en-US" sz="1000" dirty="0"/>
          </a:p>
        </p:txBody>
      </p:sp>
      <p:sp>
        <p:nvSpPr>
          <p:cNvPr id="29" name="Text 27"/>
          <p:cNvSpPr txBox="1"/>
          <p:nvPr/>
        </p:nvSpPr>
        <p:spPr>
          <a:xfrm>
            <a:off x="3168396" y="4754880"/>
            <a:ext cx="2011680" cy="914400"/>
          </a:xfrm>
          <a:prstGeom prst="rect">
            <a:avLst/>
          </a:prstGeom>
          <a:noFill/>
          <a:ln/>
        </p:spPr>
        <p:txBody>
          <a:bodyPr wrap="square" lIns="0" tIns="0" rIns="0" bIns="0" rtlCol="0" anchor="t"/>
          <a:lstStyle/>
          <a:p>
            <a:pPr indent="0" marL="0">
              <a:buNone/>
            </a:pPr>
            <a:r>
              <a:rPr lang="en-US" sz="1400" dirty="0">
                <a:solidFill>
                  <a:schemeClr val="tx1"/>
                </a:solidFill>
              </a:rPr>
              <a:t>Demand ignores the cycle; US sales earn dollars.</a:t>
            </a:r>
            <a:endParaRPr lang="en-US" sz="1400" dirty="0"/>
          </a:p>
        </p:txBody>
      </p:sp>
      <p:sp>
        <p:nvSpPr>
          <p:cNvPr id="30" name="Text 28"/>
          <p:cNvSpPr txBox="1"/>
          <p:nvPr/>
        </p:nvSpPr>
        <p:spPr>
          <a:xfrm>
            <a:off x="3168396" y="5715000"/>
            <a:ext cx="2011680" cy="256032"/>
          </a:xfrm>
          <a:prstGeom prst="rect">
            <a:avLst/>
          </a:prstGeom>
          <a:noFill/>
          <a:ln/>
        </p:spPr>
        <p:txBody>
          <a:bodyPr wrap="square" lIns="0" tIns="0" rIns="0" bIns="0" rtlCol="0" anchor="t"/>
          <a:lstStyle/>
          <a:p>
            <a:pPr indent="0" marL="0">
              <a:buNone/>
            </a:pPr>
            <a:r>
              <a:rPr lang="en-US" sz="1100" b="1" dirty="0">
                <a:solidFill>
                  <a:schemeClr val="tx2"/>
                </a:solidFill>
              </a:rPr>
              <a:t>β 0.65 · CAGR 8.7%</a:t>
            </a:r>
            <a:endParaRPr lang="en-US" sz="1100" dirty="0"/>
          </a:p>
        </p:txBody>
      </p:sp>
      <p:sp>
        <p:nvSpPr>
          <p:cNvPr id="31" name="pick-ICICI Bank"/>
          <p:cNvSpPr/>
          <p:nvPr/>
        </p:nvSpPr>
        <p:spPr>
          <a:xfrm>
            <a:off x="5458968" y="3429000"/>
            <a:ext cx="2304288" cy="2697480"/>
          </a:xfrm>
          <a:prstGeom prst="rect">
            <a:avLst/>
          </a:prstGeom>
          <a:solidFill>
            <a:schemeClr val="bg1"/>
          </a:solidFill>
          <a:ln w="9525">
            <a:solidFill>
              <a:schemeClr val="accent6"/>
            </a:solidFill>
            <a:prstDash val="solid"/>
          </a:ln>
        </p:spPr>
      </p:sp>
      <p:sp>
        <p:nvSpPr>
          <p:cNvPr id="32" name="Shape 30"/>
          <p:cNvSpPr/>
          <p:nvPr/>
        </p:nvSpPr>
        <p:spPr>
          <a:xfrm>
            <a:off x="5623560" y="3611880"/>
            <a:ext cx="1325880" cy="274320"/>
          </a:xfrm>
          <a:prstGeom prst="rect">
            <a:avLst/>
          </a:prstGeom>
          <a:solidFill>
            <a:schemeClr val="accent1"/>
          </a:solidFill>
          <a:ln w="12700">
            <a:solidFill>
              <a:schemeClr val="accent1"/>
            </a:solidFill>
            <a:prstDash val="solid"/>
          </a:ln>
        </p:spPr>
      </p:sp>
      <p:sp>
        <p:nvSpPr>
          <p:cNvPr id="33" name="Text 31"/>
          <p:cNvSpPr txBox="1"/>
          <p:nvPr/>
        </p:nvSpPr>
        <p:spPr>
          <a:xfrm>
            <a:off x="5623560" y="3611880"/>
            <a:ext cx="13258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PRIVATE BANK</a:t>
            </a:r>
            <a:endParaRPr lang="en-US" sz="1000" dirty="0"/>
          </a:p>
        </p:txBody>
      </p:sp>
      <p:sp>
        <p:nvSpPr>
          <p:cNvPr id="34" name="Text 32"/>
          <p:cNvSpPr txBox="1"/>
          <p:nvPr/>
        </p:nvSpPr>
        <p:spPr>
          <a:xfrm>
            <a:off x="5623560" y="4023360"/>
            <a:ext cx="2011680" cy="365760"/>
          </a:xfrm>
          <a:prstGeom prst="rect">
            <a:avLst/>
          </a:prstGeom>
          <a:noFill/>
          <a:ln/>
        </p:spPr>
        <p:txBody>
          <a:bodyPr wrap="square" lIns="0" tIns="0" rIns="0" bIns="0" rtlCol="0" anchor="t"/>
          <a:lstStyle/>
          <a:p>
            <a:pPr indent="0" marL="0">
              <a:buNone/>
            </a:pPr>
            <a:r>
              <a:rPr lang="en-US" sz="1700" b="1" dirty="0">
                <a:solidFill>
                  <a:schemeClr val="tx1"/>
                </a:solidFill>
              </a:rPr>
              <a:t>ICICI Bank</a:t>
            </a:r>
            <a:endParaRPr lang="en-US" sz="1700" dirty="0"/>
          </a:p>
        </p:txBody>
      </p:sp>
      <p:sp>
        <p:nvSpPr>
          <p:cNvPr id="35" name="Text 33"/>
          <p:cNvSpPr txBox="1"/>
          <p:nvPr/>
        </p:nvSpPr>
        <p:spPr>
          <a:xfrm>
            <a:off x="5623560" y="4434840"/>
            <a:ext cx="2011680" cy="256032"/>
          </a:xfrm>
          <a:prstGeom prst="rect">
            <a:avLst/>
          </a:prstGeom>
          <a:noFill/>
          <a:ln/>
        </p:spPr>
        <p:txBody>
          <a:bodyPr wrap="square" lIns="0" tIns="0" rIns="0" bIns="0" rtlCol="0" anchor="t"/>
          <a:lstStyle/>
          <a:p>
            <a:pPr indent="0" marL="0">
              <a:buNone/>
            </a:pPr>
            <a:r>
              <a:rPr lang="en-US" sz="1000" b="1" spc="100" kern="0" dirty="0">
                <a:solidFill>
                  <a:schemeClr val="accent1"/>
                </a:solidFill>
              </a:rPr>
              <a:t>GROWTH ENGINE</a:t>
            </a:r>
            <a:endParaRPr lang="en-US" sz="1000" dirty="0"/>
          </a:p>
        </p:txBody>
      </p:sp>
      <p:sp>
        <p:nvSpPr>
          <p:cNvPr id="36" name="Text 34"/>
          <p:cNvSpPr txBox="1"/>
          <p:nvPr/>
        </p:nvSpPr>
        <p:spPr>
          <a:xfrm>
            <a:off x="5623560" y="4754880"/>
            <a:ext cx="2011680" cy="914400"/>
          </a:xfrm>
          <a:prstGeom prst="rect">
            <a:avLst/>
          </a:prstGeom>
          <a:noFill/>
          <a:ln/>
        </p:spPr>
        <p:txBody>
          <a:bodyPr wrap="square" lIns="0" tIns="0" rIns="0" bIns="0" rtlCol="0" anchor="t"/>
          <a:lstStyle/>
          <a:p>
            <a:pPr indent="0" marL="0">
              <a:buNone/>
            </a:pPr>
            <a:r>
              <a:rPr lang="en-US" sz="1400" dirty="0">
                <a:solidFill>
                  <a:schemeClr val="tx1"/>
                </a:solidFill>
              </a:rPr>
              <a:t>The direct play on investment-led growth: loans +19.6%.</a:t>
            </a:r>
            <a:endParaRPr lang="en-US" sz="1400" dirty="0"/>
          </a:p>
        </p:txBody>
      </p:sp>
      <p:sp>
        <p:nvSpPr>
          <p:cNvPr id="37" name="Text 35"/>
          <p:cNvSpPr txBox="1"/>
          <p:nvPr/>
        </p:nvSpPr>
        <p:spPr>
          <a:xfrm>
            <a:off x="5623560" y="5715000"/>
            <a:ext cx="2011680" cy="256032"/>
          </a:xfrm>
          <a:prstGeom prst="rect">
            <a:avLst/>
          </a:prstGeom>
          <a:noFill/>
          <a:ln/>
        </p:spPr>
        <p:txBody>
          <a:bodyPr wrap="square" lIns="0" tIns="0" rIns="0" bIns="0" rtlCol="0" anchor="t"/>
          <a:lstStyle/>
          <a:p>
            <a:pPr indent="0" marL="0">
              <a:buNone/>
            </a:pPr>
            <a:r>
              <a:rPr lang="en-US" sz="1100" b="1" dirty="0">
                <a:solidFill>
                  <a:schemeClr val="tx2"/>
                </a:solidFill>
              </a:rPr>
              <a:t>β 1.29 · CAGR 19.1%</a:t>
            </a:r>
            <a:endParaRPr lang="en-US" sz="1100" dirty="0"/>
          </a:p>
        </p:txBody>
      </p:sp>
      <p:sp>
        <p:nvSpPr>
          <p:cNvPr id="38" name="Text 36"/>
          <p:cNvSpPr txBox="1"/>
          <p:nvPr/>
        </p:nvSpPr>
        <p:spPr>
          <a:xfrm>
            <a:off x="8503920" y="1234440"/>
            <a:ext cx="320040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WHY THEY BELONG TOGETHER</a:t>
            </a:r>
            <a:endParaRPr lang="en-US" sz="1000" dirty="0"/>
          </a:p>
        </p:txBody>
      </p:sp>
      <p:sp>
        <p:nvSpPr>
          <p:cNvPr id="39" name="Text 37"/>
          <p:cNvSpPr txBox="1"/>
          <p:nvPr/>
        </p:nvSpPr>
        <p:spPr>
          <a:xfrm>
            <a:off x="8503920" y="1554480"/>
            <a:ext cx="3200400" cy="685800"/>
          </a:xfrm>
          <a:prstGeom prst="rect">
            <a:avLst/>
          </a:prstGeom>
          <a:noFill/>
          <a:ln/>
        </p:spPr>
        <p:txBody>
          <a:bodyPr wrap="square" lIns="0" tIns="0" rIns="0" bIns="0" rtlCol="0" anchor="t"/>
          <a:lstStyle/>
          <a:p>
            <a:pPr indent="0" marL="0">
              <a:buNone/>
            </a:pPr>
            <a:r>
              <a:rPr lang="en-US" sz="4000" b="1" dirty="0">
                <a:solidFill>
                  <a:schemeClr val="bg1"/>
                </a:solidFill>
                <a:latin typeface="Century Gothic" pitchFamily="34" charset="0"/>
                <a:ea typeface="Century Gothic" pitchFamily="34" charset="-122"/>
                <a:cs typeface="Century Gothic" pitchFamily="34" charset="-120"/>
              </a:rPr>
              <a:t>0.16–0.24</a:t>
            </a:r>
            <a:endParaRPr lang="en-US" sz="4000" dirty="0"/>
          </a:p>
        </p:txBody>
      </p:sp>
      <p:sp>
        <p:nvSpPr>
          <p:cNvPr id="40" name="Text 38"/>
          <p:cNvSpPr txBox="1"/>
          <p:nvPr/>
        </p:nvSpPr>
        <p:spPr>
          <a:xfrm>
            <a:off x="8503920" y="2240280"/>
            <a:ext cx="3200400" cy="274320"/>
          </a:xfrm>
          <a:prstGeom prst="rect">
            <a:avLst/>
          </a:prstGeom>
          <a:noFill/>
          <a:ln/>
        </p:spPr>
        <p:txBody>
          <a:bodyPr wrap="square" lIns="0" tIns="0" rIns="0" bIns="0" rtlCol="0" anchor="t"/>
          <a:lstStyle/>
          <a:p>
            <a:pPr indent="0" marL="0">
              <a:buNone/>
            </a:pPr>
            <a:r>
              <a:rPr lang="en-US" sz="1000" b="1" dirty="0">
                <a:solidFill>
                  <a:schemeClr val="accent6"/>
                </a:solidFill>
              </a:rPr>
              <a:t>PAIRWISE CORRELATIONS, 2016–2026</a:t>
            </a:r>
            <a:endParaRPr lang="en-US" sz="1000" dirty="0"/>
          </a:p>
        </p:txBody>
      </p:sp>
      <p:sp>
        <p:nvSpPr>
          <p:cNvPr id="41" name="Text 39"/>
          <p:cNvSpPr txBox="1"/>
          <p:nvPr/>
        </p:nvSpPr>
        <p:spPr>
          <a:xfrm>
            <a:off x="8503920" y="2560320"/>
            <a:ext cx="3200400" cy="548640"/>
          </a:xfrm>
          <a:prstGeom prst="rect">
            <a:avLst/>
          </a:prstGeom>
          <a:noFill/>
          <a:ln/>
        </p:spPr>
        <p:txBody>
          <a:bodyPr wrap="square" lIns="0" tIns="0" rIns="0" bIns="0" rtlCol="0" anchor="t"/>
          <a:lstStyle/>
          <a:p>
            <a:pPr indent="0" marL="0">
              <a:buNone/>
            </a:pPr>
            <a:r>
              <a:rPr lang="en-US" sz="1200" dirty="0">
                <a:solidFill>
                  <a:schemeClr val="accent6"/>
                </a:solidFill>
              </a:rPr>
              <a:t>Betas of 0.60, 0.65, 1.29: two defensives and one cyclical.</a:t>
            </a:r>
            <a:endParaRPr lang="en-US" sz="1200" dirty="0"/>
          </a:p>
        </p:txBody>
      </p:sp>
      <p:sp>
        <p:nvSpPr>
          <p:cNvPr id="42" name="Shape 40"/>
          <p:cNvSpPr/>
          <p:nvPr/>
        </p:nvSpPr>
        <p:spPr>
          <a:xfrm>
            <a:off x="8503920" y="3246120"/>
            <a:ext cx="3200400" cy="0"/>
          </a:xfrm>
          <a:prstGeom prst="line">
            <a:avLst/>
          </a:prstGeom>
          <a:noFill/>
          <a:ln w="9525">
            <a:solidFill>
              <a:schemeClr val="accent5"/>
            </a:solidFill>
            <a:prstDash val="solid"/>
          </a:ln>
        </p:spPr>
      </p:sp>
      <p:sp>
        <p:nvSpPr>
          <p:cNvPr id="43" name="Text 41"/>
          <p:cNvSpPr txBox="1"/>
          <p:nvPr/>
        </p:nvSpPr>
        <p:spPr>
          <a:xfrm>
            <a:off x="8503920" y="3429000"/>
            <a:ext cx="320040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WHAT WE REJECTED</a:t>
            </a:r>
            <a:endParaRPr lang="en-US" sz="1000" dirty="0"/>
          </a:p>
        </p:txBody>
      </p:sp>
      <p:sp>
        <p:nvSpPr>
          <p:cNvPr id="44" name="Text 42"/>
          <p:cNvSpPr txBox="1"/>
          <p:nvPr/>
        </p:nvSpPr>
        <p:spPr>
          <a:xfrm>
            <a:off x="8503920" y="3749040"/>
            <a:ext cx="3200400" cy="960120"/>
          </a:xfrm>
          <a:prstGeom prst="rect">
            <a:avLst/>
          </a:prstGeom>
          <a:noFill/>
          <a:ln/>
        </p:spPr>
        <p:txBody>
          <a:bodyPr wrap="square" lIns="0" tIns="0" rIns="0" bIns="0" rtlCol="0" anchor="t"/>
          <a:lstStyle/>
          <a:p>
            <a:pPr indent="0" marL="0">
              <a:buNone/>
            </a:pPr>
            <a:r>
              <a:rPr lang="en-US" sz="1300" b="1" dirty="0">
                <a:solidFill>
                  <a:schemeClr val="bg1"/>
                </a:solidFill>
              </a:rPr>
              <a:t>MEDIA</a:t>
            </a:r>
            <a:endParaRPr lang="en-US" sz="1300" dirty="0"/>
          </a:p>
          <a:p>
            <a:pPr indent="0" marL="0">
              <a:buNone/>
            </a:pPr>
            <a:r>
              <a:rPr lang="en-US" sz="1200" dirty="0">
                <a:solidFill>
                  <a:schemeClr val="accent6"/>
                </a:solidFill>
              </a:rPr>
              <a:t>Strongest sector (+11.2% vs 200-day), but its certainty equivalent at A = 4 is −8% to −38%: chasing it is recency bias.</a:t>
            </a:r>
            <a:endParaRPr lang="en-US" sz="1300" dirty="0"/>
          </a:p>
        </p:txBody>
      </p:sp>
      <p:sp>
        <p:nvSpPr>
          <p:cNvPr id="45" name="Text 43"/>
          <p:cNvSpPr txBox="1"/>
          <p:nvPr/>
        </p:nvSpPr>
        <p:spPr>
          <a:xfrm>
            <a:off x="8503920" y="4800600"/>
            <a:ext cx="3200400" cy="731520"/>
          </a:xfrm>
          <a:prstGeom prst="rect">
            <a:avLst/>
          </a:prstGeom>
          <a:noFill/>
          <a:ln/>
        </p:spPr>
        <p:txBody>
          <a:bodyPr wrap="square" lIns="0" tIns="0" rIns="0" bIns="0" rtlCol="0" anchor="t"/>
          <a:lstStyle/>
          <a:p>
            <a:pPr indent="0" marL="0">
              <a:buNone/>
            </a:pPr>
            <a:r>
              <a:rPr lang="en-US" sz="1300" b="1" dirty="0">
                <a:solidFill>
                  <a:schemeClr val="bg1"/>
                </a:solidFill>
              </a:rPr>
              <a:t>INFOSYS</a:t>
            </a:r>
            <a:endParaRPr lang="en-US" sz="1300" dirty="0"/>
          </a:p>
          <a:p>
            <a:pPr indent="0" marL="0">
              <a:buNone/>
            </a:pPr>
            <a:r>
              <a:rPr lang="en-US" sz="1200" dirty="0">
                <a:solidFill>
                  <a:schemeClr val="accent6"/>
                </a:solidFill>
              </a:rPr>
              <a:t>IT is 8.9% below its 200-day; Sun keeps the dollar hedge at a lower beta.</a:t>
            </a:r>
            <a:endParaRPr lang="en-US" sz="1300" dirty="0"/>
          </a:p>
        </p:txBody>
      </p:sp>
      <p:sp>
        <p:nvSpPr>
          <p:cNvPr id="46" name="Text 44"/>
          <p:cNvSpPr txBox="1"/>
          <p:nvPr/>
        </p:nvSpPr>
        <p:spPr>
          <a:xfrm>
            <a:off x="8503920" y="5577840"/>
            <a:ext cx="3200400" cy="502920"/>
          </a:xfrm>
          <a:prstGeom prst="rect">
            <a:avLst/>
          </a:prstGeom>
          <a:noFill/>
          <a:ln/>
        </p:spPr>
        <p:txBody>
          <a:bodyPr wrap="square" lIns="0" tIns="0" rIns="0" bIns="0" rtlCol="0" anchor="t"/>
          <a:lstStyle/>
          <a:p>
            <a:pPr indent="0" marL="0">
              <a:buNone/>
            </a:pPr>
            <a:r>
              <a:rPr lang="en-US" sz="1300" b="1" dirty="0">
                <a:solidFill>
                  <a:schemeClr val="bg1"/>
                </a:solidFill>
              </a:rPr>
              <a:t>HDFC BANK</a:t>
            </a:r>
            <a:endParaRPr lang="en-US" sz="1300" dirty="0"/>
          </a:p>
          <a:p>
            <a:pPr indent="0" marL="0">
              <a:buNone/>
            </a:pPr>
            <a:r>
              <a:rPr lang="en-US" sz="1200" dirty="0">
                <a:solidFill>
                  <a:schemeClr val="accent6"/>
                </a:solidFill>
              </a:rPr>
              <a:t>The 2023 merger breaks its history.</a:t>
            </a:r>
            <a:endParaRPr lang="en-US" sz="1300" dirty="0"/>
          </a:p>
        </p:txBody>
      </p:sp>
      <p:sp>
        <p:nvSpPr>
          <p:cNvPr id="47" name="Text 45"/>
          <p:cNvSpPr txBox="1"/>
          <p:nvPr/>
        </p:nvSpPr>
        <p:spPr>
          <a:xfrm>
            <a:off x="548640" y="6382512"/>
            <a:ext cx="7406640" cy="274320"/>
          </a:xfrm>
          <a:prstGeom prst="rect">
            <a:avLst/>
          </a:prstGeom>
          <a:noFill/>
          <a:ln/>
        </p:spPr>
        <p:txBody>
          <a:bodyPr wrap="square" lIns="0" tIns="0" rIns="0" bIns="0" rtlCol="0" anchor="t"/>
          <a:lstStyle/>
          <a:p>
            <a:pPr indent="0" marL="0">
              <a:buNone/>
            </a:pPr>
            <a:r>
              <a:rPr lang="en-US" sz="1000" dirty="0">
                <a:solidFill>
                  <a:schemeClr val="tx2"/>
                </a:solidFill>
              </a:rPr>
              <a:t>Sources: MOSPI, RBI, Zerodha Aftermarket Report (12 Oct 2026). Full funnel: docs/macro_industry.md.</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02 - VALUATION</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accent1"/>
                </a:solidFill>
              </a:rPr>
              <a:t>PRICED FOR MORE GROWTH THAN WE CAN JUSTIFY</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tx1"/>
                </a:solidFill>
              </a:rPr>
              <a:t>Intrinsic value from our Excel models at CAPM discount rates, against today's price and the analysts' targets.</a:t>
            </a:r>
            <a:endParaRPr lang="en-US" sz="1400" dirty="0"/>
          </a:p>
        </p:txBody>
      </p:sp>
      <p:sp>
        <p:nvSpPr>
          <p:cNvPr id="5" name="valuation-chart-card"/>
          <p:cNvSpPr/>
          <p:nvPr/>
        </p:nvSpPr>
        <p:spPr>
          <a:xfrm>
            <a:off x="548640" y="2286000"/>
            <a:ext cx="7086600" cy="3931920"/>
          </a:xfrm>
          <a:prstGeom prst="rect">
            <a:avLst/>
          </a:prstGeom>
          <a:solidFill>
            <a:schemeClr val="bg1"/>
          </a:solidFill>
          <a:ln w="9525">
            <a:solidFill>
              <a:schemeClr val="accent6"/>
            </a:solidFill>
            <a:prstDash val="solid"/>
          </a:ln>
        </p:spPr>
      </p:sp>
      <p:graphicFrame>
        <p:nvGraphicFramePr>
          <p:cNvPr id="6" name="valuation-chart" descr=""/>
          <p:cNvGraphicFramePr/>
          <p:nvPr/>
        </p:nvGraphicFramePr>
        <p:xfrm>
          <a:off x="685800" y="2377440"/>
          <a:ext cx="68122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955280" y="2286000"/>
            <a:ext cx="1417320" cy="548640"/>
          </a:xfrm>
          <a:prstGeom prst="rect">
            <a:avLst/>
          </a:prstGeom>
          <a:noFill/>
          <a:ln/>
        </p:spPr>
        <p:txBody>
          <a:bodyPr wrap="square" lIns="0" tIns="0" rIns="0" bIns="0" rtlCol="0" anchor="t"/>
          <a:lstStyle/>
          <a:p>
            <a:pPr indent="0" marL="0">
              <a:buNone/>
            </a:pPr>
            <a:r>
              <a:rPr lang="en-US" sz="3000" b="1" dirty="0">
                <a:solidFill>
                  <a:schemeClr val="accent3"/>
                </a:solidFill>
                <a:latin typeface="Century Gothic" pitchFamily="34" charset="0"/>
                <a:ea typeface="Century Gothic" pitchFamily="34" charset="-122"/>
                <a:cs typeface="Century Gothic" pitchFamily="34" charset="-120"/>
              </a:rPr>
              <a:t>−14%</a:t>
            </a:r>
            <a:endParaRPr lang="en-US" sz="3000" dirty="0"/>
          </a:p>
        </p:txBody>
      </p:sp>
      <p:sp>
        <p:nvSpPr>
          <p:cNvPr id="8" name="Text 5"/>
          <p:cNvSpPr txBox="1"/>
          <p:nvPr/>
        </p:nvSpPr>
        <p:spPr>
          <a:xfrm>
            <a:off x="7955280" y="2834640"/>
            <a:ext cx="1417320" cy="274320"/>
          </a:xfrm>
          <a:prstGeom prst="rect">
            <a:avLst/>
          </a:prstGeom>
          <a:noFill/>
          <a:ln/>
        </p:spPr>
        <p:txBody>
          <a:bodyPr wrap="square" lIns="0" tIns="0" rIns="0" bIns="0" rtlCol="0" anchor="t"/>
          <a:lstStyle/>
          <a:p>
            <a:pPr indent="0" marL="0">
              <a:buNone/>
            </a:pPr>
            <a:r>
              <a:rPr lang="en-US" sz="1000" b="1" dirty="0">
                <a:solidFill>
                  <a:schemeClr val="tx2"/>
                </a:solidFill>
              </a:rPr>
              <a:t>BLENDED VS PRICE</a:t>
            </a:r>
            <a:endParaRPr lang="en-US" sz="1000" dirty="0"/>
          </a:p>
        </p:txBody>
      </p:sp>
      <p:sp>
        <p:nvSpPr>
          <p:cNvPr id="9" name="Text 6"/>
          <p:cNvSpPr txBox="1"/>
          <p:nvPr/>
        </p:nvSpPr>
        <p:spPr>
          <a:xfrm>
            <a:off x="9464040" y="2286000"/>
            <a:ext cx="2194560" cy="914400"/>
          </a:xfrm>
          <a:prstGeom prst="rect">
            <a:avLst/>
          </a:prstGeom>
          <a:noFill/>
          <a:ln/>
        </p:spPr>
        <p:txBody>
          <a:bodyPr wrap="square" lIns="0" tIns="0" rIns="0" bIns="0" rtlCol="0" anchor="t"/>
          <a:lstStyle/>
          <a:p>
            <a:pPr indent="0" marL="0">
              <a:buNone/>
            </a:pPr>
            <a:r>
              <a:rPr lang="en-US" sz="1400" b="1" dirty="0">
                <a:solidFill>
                  <a:schemeClr val="tx1"/>
                </a:solidFill>
              </a:rPr>
              <a:t>Hindustan Unilever</a:t>
            </a:r>
            <a:endParaRPr lang="en-US" sz="1400" dirty="0"/>
          </a:p>
          <a:p>
            <a:pPr indent="0" marL="0">
              <a:buNone/>
            </a:pPr>
            <a:r>
              <a:rPr lang="en-US" sz="1200" dirty="0">
                <a:solidFill>
                  <a:schemeClr val="tx2"/>
                </a:solidFill>
              </a:rPr>
              <a:t>Price implies 7.4% growth a year for ever, at r = 9.8%</a:t>
            </a:r>
            <a:endParaRPr lang="en-US" sz="1400" dirty="0"/>
          </a:p>
        </p:txBody>
      </p:sp>
      <p:sp>
        <p:nvSpPr>
          <p:cNvPr id="10" name="Text 7"/>
          <p:cNvSpPr txBox="1"/>
          <p:nvPr/>
        </p:nvSpPr>
        <p:spPr>
          <a:xfrm>
            <a:off x="7955280" y="3310128"/>
            <a:ext cx="1417320" cy="548640"/>
          </a:xfrm>
          <a:prstGeom prst="rect">
            <a:avLst/>
          </a:prstGeom>
          <a:noFill/>
          <a:ln/>
        </p:spPr>
        <p:txBody>
          <a:bodyPr wrap="square" lIns="0" tIns="0" rIns="0" bIns="0" rtlCol="0" anchor="t"/>
          <a:lstStyle/>
          <a:p>
            <a:pPr indent="0" marL="0">
              <a:buNone/>
            </a:pPr>
            <a:r>
              <a:rPr lang="en-US" sz="3000" b="1" dirty="0">
                <a:solidFill>
                  <a:schemeClr val="accent1"/>
                </a:solidFill>
                <a:latin typeface="Century Gothic" pitchFamily="34" charset="0"/>
                <a:ea typeface="Century Gothic" pitchFamily="34" charset="-122"/>
                <a:cs typeface="Century Gothic" pitchFamily="34" charset="-120"/>
              </a:rPr>
              <a:t>−30%</a:t>
            </a:r>
            <a:endParaRPr lang="en-US" sz="3000" dirty="0"/>
          </a:p>
        </p:txBody>
      </p:sp>
      <p:sp>
        <p:nvSpPr>
          <p:cNvPr id="11" name="Text 8"/>
          <p:cNvSpPr txBox="1"/>
          <p:nvPr/>
        </p:nvSpPr>
        <p:spPr>
          <a:xfrm>
            <a:off x="7955280" y="3858768"/>
            <a:ext cx="1417320" cy="274320"/>
          </a:xfrm>
          <a:prstGeom prst="rect">
            <a:avLst/>
          </a:prstGeom>
          <a:noFill/>
          <a:ln/>
        </p:spPr>
        <p:txBody>
          <a:bodyPr wrap="square" lIns="0" tIns="0" rIns="0" bIns="0" rtlCol="0" anchor="t"/>
          <a:lstStyle/>
          <a:p>
            <a:pPr indent="0" marL="0">
              <a:buNone/>
            </a:pPr>
            <a:r>
              <a:rPr lang="en-US" sz="1000" b="1" dirty="0">
                <a:solidFill>
                  <a:schemeClr val="tx2"/>
                </a:solidFill>
              </a:rPr>
              <a:t>BLENDED VS PRICE</a:t>
            </a:r>
            <a:endParaRPr lang="en-US" sz="1000" dirty="0"/>
          </a:p>
        </p:txBody>
      </p:sp>
      <p:sp>
        <p:nvSpPr>
          <p:cNvPr id="12" name="Text 9"/>
          <p:cNvSpPr txBox="1"/>
          <p:nvPr/>
        </p:nvSpPr>
        <p:spPr>
          <a:xfrm>
            <a:off x="9464040" y="3310128"/>
            <a:ext cx="2194560" cy="914400"/>
          </a:xfrm>
          <a:prstGeom prst="rect">
            <a:avLst/>
          </a:prstGeom>
          <a:noFill/>
          <a:ln/>
        </p:spPr>
        <p:txBody>
          <a:bodyPr wrap="square" lIns="0" tIns="0" rIns="0" bIns="0" rtlCol="0" anchor="t"/>
          <a:lstStyle/>
          <a:p>
            <a:pPr indent="0" marL="0">
              <a:buNone/>
            </a:pPr>
            <a:r>
              <a:rPr lang="en-US" sz="1400" b="1" dirty="0">
                <a:solidFill>
                  <a:schemeClr val="tx1"/>
                </a:solidFill>
              </a:rPr>
              <a:t>Sun Pharma</a:t>
            </a:r>
            <a:endParaRPr lang="en-US" sz="1400" dirty="0"/>
          </a:p>
          <a:p>
            <a:pPr indent="0" marL="0">
              <a:buNone/>
            </a:pPr>
            <a:r>
              <a:rPr lang="en-US" sz="1200" dirty="0">
                <a:solidFill>
                  <a:schemeClr val="tx2"/>
                </a:solidFill>
              </a:rPr>
              <a:t>Price implies 8.6% growth a year for ever, at r = 10.1%</a:t>
            </a:r>
            <a:endParaRPr lang="en-US" sz="1400" dirty="0"/>
          </a:p>
        </p:txBody>
      </p:sp>
      <p:sp>
        <p:nvSpPr>
          <p:cNvPr id="13" name="Text 10"/>
          <p:cNvSpPr txBox="1"/>
          <p:nvPr/>
        </p:nvSpPr>
        <p:spPr>
          <a:xfrm>
            <a:off x="7955280" y="4334256"/>
            <a:ext cx="1417320" cy="548640"/>
          </a:xfrm>
          <a:prstGeom prst="rect">
            <a:avLst/>
          </a:prstGeom>
          <a:noFill/>
          <a:ln/>
        </p:spPr>
        <p:txBody>
          <a:bodyPr wrap="square" lIns="0" tIns="0" rIns="0" bIns="0" rtlCol="0" anchor="t"/>
          <a:lstStyle/>
          <a:p>
            <a:pPr indent="0" marL="0">
              <a:buNone/>
            </a:pPr>
            <a:r>
              <a:rPr lang="en-US" sz="3000" b="1" dirty="0">
                <a:solidFill>
                  <a:schemeClr val="accent1"/>
                </a:solidFill>
                <a:latin typeface="Century Gothic" pitchFamily="34" charset="0"/>
                <a:ea typeface="Century Gothic" pitchFamily="34" charset="-122"/>
                <a:cs typeface="Century Gothic" pitchFamily="34" charset="-120"/>
              </a:rPr>
              <a:t>−37%</a:t>
            </a:r>
            <a:endParaRPr lang="en-US" sz="3000" dirty="0"/>
          </a:p>
        </p:txBody>
      </p:sp>
      <p:sp>
        <p:nvSpPr>
          <p:cNvPr id="14" name="Text 11"/>
          <p:cNvSpPr txBox="1"/>
          <p:nvPr/>
        </p:nvSpPr>
        <p:spPr>
          <a:xfrm>
            <a:off x="7955280" y="4882896"/>
            <a:ext cx="1417320" cy="274320"/>
          </a:xfrm>
          <a:prstGeom prst="rect">
            <a:avLst/>
          </a:prstGeom>
          <a:noFill/>
          <a:ln/>
        </p:spPr>
        <p:txBody>
          <a:bodyPr wrap="square" lIns="0" tIns="0" rIns="0" bIns="0" rtlCol="0" anchor="t"/>
          <a:lstStyle/>
          <a:p>
            <a:pPr indent="0" marL="0">
              <a:buNone/>
            </a:pPr>
            <a:r>
              <a:rPr lang="en-US" sz="1000" b="1" dirty="0">
                <a:solidFill>
                  <a:schemeClr val="tx2"/>
                </a:solidFill>
              </a:rPr>
              <a:t>BLENDED VS PRICE</a:t>
            </a:r>
            <a:endParaRPr lang="en-US" sz="1000" dirty="0"/>
          </a:p>
        </p:txBody>
      </p:sp>
      <p:sp>
        <p:nvSpPr>
          <p:cNvPr id="15" name="Text 12"/>
          <p:cNvSpPr txBox="1"/>
          <p:nvPr/>
        </p:nvSpPr>
        <p:spPr>
          <a:xfrm>
            <a:off x="9464040" y="4334256"/>
            <a:ext cx="2194560" cy="914400"/>
          </a:xfrm>
          <a:prstGeom prst="rect">
            <a:avLst/>
          </a:prstGeom>
          <a:noFill/>
          <a:ln/>
        </p:spPr>
        <p:txBody>
          <a:bodyPr wrap="square" lIns="0" tIns="0" rIns="0" bIns="0" rtlCol="0" anchor="t"/>
          <a:lstStyle/>
          <a:p>
            <a:pPr indent="0" marL="0">
              <a:buNone/>
            </a:pPr>
            <a:r>
              <a:rPr lang="en-US" sz="1400" b="1" dirty="0">
                <a:solidFill>
                  <a:schemeClr val="tx1"/>
                </a:solidFill>
              </a:rPr>
              <a:t>ICICI Bank</a:t>
            </a:r>
            <a:endParaRPr lang="en-US" sz="1400" dirty="0"/>
          </a:p>
          <a:p>
            <a:pPr indent="0" marL="0">
              <a:buNone/>
            </a:pPr>
            <a:r>
              <a:rPr lang="en-US" sz="1200" dirty="0">
                <a:solidFill>
                  <a:schemeClr val="tx2"/>
                </a:solidFill>
              </a:rPr>
              <a:t>Price implies 13.9% growth a year for ever, at r = 14.7%</a:t>
            </a:r>
            <a:endParaRPr lang="en-US" sz="1400" dirty="0"/>
          </a:p>
        </p:txBody>
      </p:sp>
      <p:sp>
        <p:nvSpPr>
          <p:cNvPr id="16" name="valuation-callout"/>
          <p:cNvSpPr/>
          <p:nvPr/>
        </p:nvSpPr>
        <p:spPr>
          <a:xfrm>
            <a:off x="7955280" y="5394960"/>
            <a:ext cx="3685032" cy="822960"/>
          </a:xfrm>
          <a:prstGeom prst="rect">
            <a:avLst/>
          </a:prstGeom>
          <a:solidFill>
            <a:schemeClr val="tx1"/>
          </a:solidFill>
          <a:ln w="9525">
            <a:solidFill>
              <a:schemeClr val="accent6"/>
            </a:solidFill>
            <a:prstDash val="solid"/>
          </a:ln>
        </p:spPr>
      </p:sp>
      <p:sp>
        <p:nvSpPr>
          <p:cNvPr id="17" name="Text 14"/>
          <p:cNvSpPr txBox="1"/>
          <p:nvPr/>
        </p:nvSpPr>
        <p:spPr>
          <a:xfrm>
            <a:off x="8092440" y="5468112"/>
            <a:ext cx="3429000" cy="685800"/>
          </a:xfrm>
          <a:prstGeom prst="rect">
            <a:avLst/>
          </a:prstGeom>
          <a:noFill/>
          <a:ln/>
        </p:spPr>
        <p:txBody>
          <a:bodyPr wrap="square" lIns="0" tIns="0" rIns="0" bIns="0" rtlCol="0" anchor="ctr"/>
          <a:lstStyle/>
          <a:p>
            <a:pPr indent="0" marL="0">
              <a:buNone/>
            </a:pPr>
            <a:r>
              <a:rPr lang="en-US" sz="1200" dirty="0">
                <a:solidFill>
                  <a:schemeClr val="bg1"/>
                </a:solidFill>
              </a:rPr>
              <a:t>ICICI grew loans 19.6% last quarter. The gap is mostly our 14.7% cost of equity (β 1.29), not unrealistic growth.</a:t>
            </a:r>
            <a:endParaRPr lang="en-US" sz="1200" dirty="0"/>
          </a:p>
        </p:txBody>
      </p:sp>
      <p:sp>
        <p:nvSpPr>
          <p:cNvPr id="18" name="Text 15"/>
          <p:cNvSpPr txBox="1"/>
          <p:nvPr/>
        </p:nvSpPr>
        <p:spPr>
          <a:xfrm>
            <a:off x="548640" y="6382512"/>
            <a:ext cx="10424160" cy="274320"/>
          </a:xfrm>
          <a:prstGeom prst="rect">
            <a:avLst/>
          </a:prstGeom>
          <a:noFill/>
          <a:ln/>
        </p:spPr>
        <p:txBody>
          <a:bodyPr wrap="square" lIns="0" tIns="0" rIns="0" bIns="0" rtlCol="0" anchor="t"/>
          <a:lstStyle/>
          <a:p>
            <a:pPr indent="0" marL="0">
              <a:buNone/>
            </a:pPr>
            <a:r>
              <a:rPr lang="en-US" sz="1000" dirty="0">
                <a:solidFill>
                  <a:schemeClr val="tx2"/>
                </a:solidFill>
              </a:rPr>
              <a:t>Two-stage DDM (HUL), two-stage residual income (Sun Pharma, ICICI Bank), peer P/E and ROE-adjusted P/B: workbook/valuation.xlsx. Blended = average of model and peer values. Analyst targets: Yahoo Finance consensus.</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03 - AI-AUGMENTED ANALYSIS</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bg1"/>
                </a:solidFill>
              </a:rPr>
              <a:t>FIVE AI TASKS, EACH CHECKED AGAINST A BENCHMARK</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bg2"/>
                </a:solidFill>
              </a:rPr>
              <a:t>AI reads and labels; Python computes every number. Each task reports how far it can be trusted.</a:t>
            </a:r>
            <a:endParaRPr lang="en-US" sz="1400" dirty="0"/>
          </a:p>
        </p:txBody>
      </p:sp>
      <p:sp>
        <p:nvSpPr>
          <p:cNvPr id="5" name="ai-task-1"/>
          <p:cNvSpPr/>
          <p:nvPr/>
        </p:nvSpPr>
        <p:spPr>
          <a:xfrm>
            <a:off x="548640" y="2331720"/>
            <a:ext cx="2093976" cy="3886200"/>
          </a:xfrm>
          <a:prstGeom prst="rect">
            <a:avLst/>
          </a:prstGeom>
          <a:solidFill>
            <a:schemeClr val="bg1"/>
          </a:solidFill>
          <a:ln w="9525">
            <a:solidFill>
              <a:schemeClr val="accent6"/>
            </a:solidFill>
            <a:prstDash val="solid"/>
          </a:ln>
        </p:spPr>
      </p:sp>
      <p:sp>
        <p:nvSpPr>
          <p:cNvPr id="6" name="Shape 4"/>
          <p:cNvSpPr/>
          <p:nvPr/>
        </p:nvSpPr>
        <p:spPr>
          <a:xfrm>
            <a:off x="548640" y="2331720"/>
            <a:ext cx="2093976" cy="685800"/>
          </a:xfrm>
          <a:prstGeom prst="rect">
            <a:avLst/>
          </a:prstGeom>
          <a:solidFill>
            <a:schemeClr val="accent3"/>
          </a:solidFill>
          <a:ln w="12700">
            <a:solidFill>
              <a:schemeClr val="accent3"/>
            </a:solidFill>
            <a:prstDash val="solid"/>
          </a:ln>
        </p:spPr>
      </p:sp>
      <p:sp>
        <p:nvSpPr>
          <p:cNvPr id="7" name="Text 5"/>
          <p:cNvSpPr txBox="1"/>
          <p:nvPr/>
        </p:nvSpPr>
        <p:spPr>
          <a:xfrm>
            <a:off x="685800" y="2423160"/>
            <a:ext cx="1828800" cy="548640"/>
          </a:xfrm>
          <a:prstGeom prst="rect">
            <a:avLst/>
          </a:prstGeom>
          <a:noFill/>
          <a:ln/>
        </p:spPr>
        <p:txBody>
          <a:bodyPr wrap="square" lIns="0" tIns="0" rIns="0" bIns="0" rtlCol="0" anchor="t"/>
          <a:lstStyle/>
          <a:p>
            <a:pPr indent="0" marL="0">
              <a:buNone/>
            </a:pPr>
            <a:r>
              <a:rPr lang="en-US" sz="1000" b="1" dirty="0">
                <a:solidFill>
                  <a:schemeClr val="bg1"/>
                </a:solidFill>
              </a:rPr>
              <a:t>01</a:t>
            </a:r>
            <a:endParaRPr lang="en-US" sz="1000" dirty="0"/>
          </a:p>
          <a:p>
            <a:pPr indent="0" marL="0">
              <a:buNone/>
            </a:pPr>
            <a:r>
              <a:rPr lang="en-US" sz="1400" b="1" dirty="0">
                <a:solidFill>
                  <a:schemeClr val="bg1"/>
                </a:solidFill>
              </a:rPr>
              <a:t>RATIO EXTRACTION</a:t>
            </a:r>
            <a:endParaRPr lang="en-US" sz="1000" dirty="0"/>
          </a:p>
        </p:txBody>
      </p:sp>
      <p:sp>
        <p:nvSpPr>
          <p:cNvPr id="8" name="Text 6"/>
          <p:cNvSpPr txBox="1"/>
          <p:nvPr/>
        </p:nvSpPr>
        <p:spPr>
          <a:xfrm>
            <a:off x="685800"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Claude reads the FY26 annual reports and returns line items as JSON.</a:t>
            </a:r>
            <a:endParaRPr lang="en-US" sz="1000" dirty="0"/>
          </a:p>
        </p:txBody>
      </p:sp>
      <p:sp>
        <p:nvSpPr>
          <p:cNvPr id="9" name="Text 7"/>
          <p:cNvSpPr txBox="1"/>
          <p:nvPr/>
        </p:nvSpPr>
        <p:spPr>
          <a:xfrm>
            <a:off x="685800"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Yahoo Finance and Screener.</a:t>
            </a:r>
            <a:endParaRPr lang="en-US" sz="1000" dirty="0"/>
          </a:p>
        </p:txBody>
      </p:sp>
      <p:sp>
        <p:nvSpPr>
          <p:cNvPr id="10" name="Shape 8"/>
          <p:cNvSpPr/>
          <p:nvPr/>
        </p:nvSpPr>
        <p:spPr>
          <a:xfrm>
            <a:off x="685800" y="5074920"/>
            <a:ext cx="1828800" cy="0"/>
          </a:xfrm>
          <a:prstGeom prst="line">
            <a:avLst/>
          </a:prstGeom>
          <a:noFill/>
          <a:ln w="9525">
            <a:solidFill>
              <a:schemeClr val="accent6"/>
            </a:solidFill>
            <a:prstDash val="solid"/>
          </a:ln>
        </p:spPr>
      </p:sp>
      <p:sp>
        <p:nvSpPr>
          <p:cNvPr id="11" name="Text 9"/>
          <p:cNvSpPr txBox="1"/>
          <p:nvPr/>
        </p:nvSpPr>
        <p:spPr>
          <a:xfrm>
            <a:off x="685800"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44 / 47</a:t>
            </a:r>
            <a:endParaRPr lang="en-US" sz="2600" dirty="0"/>
          </a:p>
        </p:txBody>
      </p:sp>
      <p:sp>
        <p:nvSpPr>
          <p:cNvPr id="12" name="Text 10"/>
          <p:cNvSpPr txBox="1"/>
          <p:nvPr/>
        </p:nvSpPr>
        <p:spPr>
          <a:xfrm>
            <a:off x="685800"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within 1%; 0 extraction errors</a:t>
            </a:r>
            <a:endParaRPr lang="en-US" sz="1100" dirty="0"/>
          </a:p>
        </p:txBody>
      </p:sp>
      <p:sp>
        <p:nvSpPr>
          <p:cNvPr id="13" name="ai-task-2"/>
          <p:cNvSpPr/>
          <p:nvPr/>
        </p:nvSpPr>
        <p:spPr>
          <a:xfrm>
            <a:off x="2798064" y="2331720"/>
            <a:ext cx="2093976" cy="3886200"/>
          </a:xfrm>
          <a:prstGeom prst="rect">
            <a:avLst/>
          </a:prstGeom>
          <a:solidFill>
            <a:schemeClr val="bg1"/>
          </a:solidFill>
          <a:ln w="9525">
            <a:solidFill>
              <a:schemeClr val="accent6"/>
            </a:solidFill>
            <a:prstDash val="solid"/>
          </a:ln>
        </p:spPr>
      </p:sp>
      <p:sp>
        <p:nvSpPr>
          <p:cNvPr id="14" name="Shape 12"/>
          <p:cNvSpPr/>
          <p:nvPr/>
        </p:nvSpPr>
        <p:spPr>
          <a:xfrm>
            <a:off x="2798064" y="2331720"/>
            <a:ext cx="2093976" cy="685800"/>
          </a:xfrm>
          <a:prstGeom prst="rect">
            <a:avLst/>
          </a:prstGeom>
          <a:solidFill>
            <a:schemeClr val="accent1"/>
          </a:solidFill>
          <a:ln w="12700">
            <a:solidFill>
              <a:schemeClr val="accent1"/>
            </a:solidFill>
            <a:prstDash val="solid"/>
          </a:ln>
        </p:spPr>
      </p:sp>
      <p:sp>
        <p:nvSpPr>
          <p:cNvPr id="15" name="Text 13"/>
          <p:cNvSpPr txBox="1"/>
          <p:nvPr/>
        </p:nvSpPr>
        <p:spPr>
          <a:xfrm>
            <a:off x="2935224" y="2423160"/>
            <a:ext cx="1828800" cy="548640"/>
          </a:xfrm>
          <a:prstGeom prst="rect">
            <a:avLst/>
          </a:prstGeom>
          <a:noFill/>
          <a:ln/>
        </p:spPr>
        <p:txBody>
          <a:bodyPr wrap="square" lIns="0" tIns="0" rIns="0" bIns="0" rtlCol="0" anchor="t"/>
          <a:lstStyle/>
          <a:p>
            <a:pPr indent="0" marL="0">
              <a:buNone/>
            </a:pPr>
            <a:r>
              <a:rPr lang="en-US" sz="1000" b="1" dirty="0">
                <a:solidFill>
                  <a:schemeClr val="bg1"/>
                </a:solidFill>
              </a:rPr>
              <a:t>02</a:t>
            </a:r>
            <a:endParaRPr lang="en-US" sz="1000" dirty="0"/>
          </a:p>
          <a:p>
            <a:pPr indent="0" marL="0">
              <a:buNone/>
            </a:pPr>
            <a:r>
              <a:rPr lang="en-US" sz="1400" b="1" dirty="0">
                <a:solidFill>
                  <a:schemeClr val="bg1"/>
                </a:solidFill>
              </a:rPr>
              <a:t>SENTIMENT</a:t>
            </a:r>
            <a:endParaRPr lang="en-US" sz="1000" dirty="0"/>
          </a:p>
        </p:txBody>
      </p:sp>
      <p:sp>
        <p:nvSpPr>
          <p:cNvPr id="16" name="Text 14"/>
          <p:cNvSpPr txBox="1"/>
          <p:nvPr/>
        </p:nvSpPr>
        <p:spPr>
          <a:xfrm>
            <a:off x="2935224"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FinBERT scores 2,428 headlines and 9,133 call sentences.</a:t>
            </a:r>
            <a:endParaRPr lang="en-US" sz="1000" dirty="0"/>
          </a:p>
        </p:txBody>
      </p:sp>
      <p:sp>
        <p:nvSpPr>
          <p:cNvPr id="17" name="Text 15"/>
          <p:cNvSpPr txBox="1"/>
          <p:nvPr/>
        </p:nvSpPr>
        <p:spPr>
          <a:xfrm>
            <a:off x="2935224"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Management vs analysts on every call.</a:t>
            </a:r>
            <a:endParaRPr lang="en-US" sz="1000" dirty="0"/>
          </a:p>
        </p:txBody>
      </p:sp>
      <p:sp>
        <p:nvSpPr>
          <p:cNvPr id="18" name="Shape 16"/>
          <p:cNvSpPr/>
          <p:nvPr/>
        </p:nvSpPr>
        <p:spPr>
          <a:xfrm>
            <a:off x="2935224" y="5074920"/>
            <a:ext cx="1828800" cy="0"/>
          </a:xfrm>
          <a:prstGeom prst="line">
            <a:avLst/>
          </a:prstGeom>
          <a:noFill/>
          <a:ln w="9525">
            <a:solidFill>
              <a:schemeClr val="accent6"/>
            </a:solidFill>
            <a:prstDash val="solid"/>
          </a:ln>
        </p:spPr>
      </p:sp>
      <p:sp>
        <p:nvSpPr>
          <p:cNvPr id="19" name="Text 17"/>
          <p:cNvSpPr txBox="1"/>
          <p:nvPr/>
        </p:nvSpPr>
        <p:spPr>
          <a:xfrm>
            <a:off x="2935224"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+0.28</a:t>
            </a:r>
            <a:endParaRPr lang="en-US" sz="2600" dirty="0"/>
          </a:p>
        </p:txBody>
      </p:sp>
      <p:sp>
        <p:nvSpPr>
          <p:cNvPr id="20" name="Text 18"/>
          <p:cNvSpPr txBox="1"/>
          <p:nvPr/>
        </p:nvSpPr>
        <p:spPr>
          <a:xfrm>
            <a:off x="2935224"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HUL tone gap: management far more upbeat</a:t>
            </a:r>
            <a:endParaRPr lang="en-US" sz="1100" dirty="0"/>
          </a:p>
        </p:txBody>
      </p:sp>
      <p:sp>
        <p:nvSpPr>
          <p:cNvPr id="21" name="ai-task-3"/>
          <p:cNvSpPr/>
          <p:nvPr/>
        </p:nvSpPr>
        <p:spPr>
          <a:xfrm>
            <a:off x="5047488" y="2331720"/>
            <a:ext cx="2093976" cy="3886200"/>
          </a:xfrm>
          <a:prstGeom prst="rect">
            <a:avLst/>
          </a:prstGeom>
          <a:solidFill>
            <a:schemeClr val="bg1"/>
          </a:solidFill>
          <a:ln w="9525">
            <a:solidFill>
              <a:schemeClr val="accent6"/>
            </a:solidFill>
            <a:prstDash val="solid"/>
          </a:ln>
        </p:spPr>
      </p:sp>
      <p:sp>
        <p:nvSpPr>
          <p:cNvPr id="22" name="Shape 20"/>
          <p:cNvSpPr/>
          <p:nvPr/>
        </p:nvSpPr>
        <p:spPr>
          <a:xfrm>
            <a:off x="5047488" y="2331720"/>
            <a:ext cx="2093976" cy="685800"/>
          </a:xfrm>
          <a:prstGeom prst="rect">
            <a:avLst/>
          </a:prstGeom>
          <a:solidFill>
            <a:schemeClr val="accent2"/>
          </a:solidFill>
          <a:ln w="12700">
            <a:solidFill>
              <a:schemeClr val="accent2"/>
            </a:solidFill>
            <a:prstDash val="solid"/>
          </a:ln>
        </p:spPr>
      </p:sp>
      <p:sp>
        <p:nvSpPr>
          <p:cNvPr id="23" name="Text 21"/>
          <p:cNvSpPr txBox="1"/>
          <p:nvPr/>
        </p:nvSpPr>
        <p:spPr>
          <a:xfrm>
            <a:off x="5184648" y="2423160"/>
            <a:ext cx="1828800" cy="548640"/>
          </a:xfrm>
          <a:prstGeom prst="rect">
            <a:avLst/>
          </a:prstGeom>
          <a:noFill/>
          <a:ln/>
        </p:spPr>
        <p:txBody>
          <a:bodyPr wrap="square" lIns="0" tIns="0" rIns="0" bIns="0" rtlCol="0" anchor="t"/>
          <a:lstStyle/>
          <a:p>
            <a:pPr indent="0" marL="0">
              <a:buNone/>
            </a:pPr>
            <a:r>
              <a:rPr lang="en-US" sz="1000" b="1" dirty="0">
                <a:solidFill>
                  <a:schemeClr val="tx1"/>
                </a:solidFill>
              </a:rPr>
              <a:t>03</a:t>
            </a:r>
            <a:endParaRPr lang="en-US" sz="1000" dirty="0"/>
          </a:p>
          <a:p>
            <a:pPr indent="0" marL="0">
              <a:buNone/>
            </a:pPr>
            <a:r>
              <a:rPr lang="en-US" sz="1400" b="1" dirty="0">
                <a:solidFill>
                  <a:schemeClr val="tx1"/>
                </a:solidFill>
              </a:rPr>
              <a:t>BIAS &amp; FRAMING</a:t>
            </a:r>
            <a:endParaRPr lang="en-US" sz="1000" dirty="0"/>
          </a:p>
        </p:txBody>
      </p:sp>
      <p:sp>
        <p:nvSpPr>
          <p:cNvPr id="24" name="Text 22"/>
          <p:cNvSpPr txBox="1"/>
          <p:nvPr/>
        </p:nvSpPr>
        <p:spPr>
          <a:xfrm>
            <a:off x="5184648"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An LLM tags 120 headlines for framing, authority, herding and hype.</a:t>
            </a:r>
            <a:endParaRPr lang="en-US" sz="1000" dirty="0"/>
          </a:p>
        </p:txBody>
      </p:sp>
      <p:sp>
        <p:nvSpPr>
          <p:cNvPr id="25" name="Text 23"/>
          <p:cNvSpPr txBox="1"/>
          <p:nvPr/>
        </p:nvSpPr>
        <p:spPr>
          <a:xfrm>
            <a:off x="5184648"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70% agreement with FinBERT.</a:t>
            </a:r>
            <a:endParaRPr lang="en-US" sz="1000" dirty="0"/>
          </a:p>
        </p:txBody>
      </p:sp>
      <p:sp>
        <p:nvSpPr>
          <p:cNvPr id="26" name="Shape 24"/>
          <p:cNvSpPr/>
          <p:nvPr/>
        </p:nvSpPr>
        <p:spPr>
          <a:xfrm>
            <a:off x="5184648" y="5074920"/>
            <a:ext cx="1828800" cy="0"/>
          </a:xfrm>
          <a:prstGeom prst="line">
            <a:avLst/>
          </a:prstGeom>
          <a:noFill/>
          <a:ln w="9525">
            <a:solidFill>
              <a:schemeClr val="accent6"/>
            </a:solidFill>
            <a:prstDash val="solid"/>
          </a:ln>
        </p:spPr>
      </p:sp>
      <p:sp>
        <p:nvSpPr>
          <p:cNvPr id="27" name="Text 25"/>
          <p:cNvSpPr txBox="1"/>
          <p:nvPr/>
        </p:nvSpPr>
        <p:spPr>
          <a:xfrm>
            <a:off x="5184648"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41%</a:t>
            </a:r>
            <a:endParaRPr lang="en-US" sz="2600" dirty="0"/>
          </a:p>
        </p:txBody>
      </p:sp>
      <p:sp>
        <p:nvSpPr>
          <p:cNvPr id="28" name="Text 26"/>
          <p:cNvSpPr txBox="1"/>
          <p:nvPr/>
        </p:nvSpPr>
        <p:spPr>
          <a:xfrm>
            <a:off x="5184648"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carry a bias cue; 14% aren't about the company</a:t>
            </a:r>
            <a:endParaRPr lang="en-US" sz="1100" dirty="0"/>
          </a:p>
        </p:txBody>
      </p:sp>
      <p:sp>
        <p:nvSpPr>
          <p:cNvPr id="29" name="ai-task-4"/>
          <p:cNvSpPr/>
          <p:nvPr/>
        </p:nvSpPr>
        <p:spPr>
          <a:xfrm>
            <a:off x="7296912" y="2331720"/>
            <a:ext cx="2093976" cy="3886200"/>
          </a:xfrm>
          <a:prstGeom prst="rect">
            <a:avLst/>
          </a:prstGeom>
          <a:solidFill>
            <a:schemeClr val="bg1"/>
          </a:solidFill>
          <a:ln w="9525">
            <a:solidFill>
              <a:schemeClr val="accent6"/>
            </a:solidFill>
            <a:prstDash val="solid"/>
          </a:ln>
        </p:spPr>
      </p:sp>
      <p:sp>
        <p:nvSpPr>
          <p:cNvPr id="30" name="Shape 28"/>
          <p:cNvSpPr/>
          <p:nvPr/>
        </p:nvSpPr>
        <p:spPr>
          <a:xfrm>
            <a:off x="7296912" y="2331720"/>
            <a:ext cx="2093976" cy="685800"/>
          </a:xfrm>
          <a:prstGeom prst="rect">
            <a:avLst/>
          </a:prstGeom>
          <a:solidFill>
            <a:schemeClr val="accent4"/>
          </a:solidFill>
          <a:ln w="12700">
            <a:solidFill>
              <a:schemeClr val="accent4"/>
            </a:solidFill>
            <a:prstDash val="solid"/>
          </a:ln>
        </p:spPr>
      </p:sp>
      <p:sp>
        <p:nvSpPr>
          <p:cNvPr id="31" name="Text 29"/>
          <p:cNvSpPr txBox="1"/>
          <p:nvPr/>
        </p:nvSpPr>
        <p:spPr>
          <a:xfrm>
            <a:off x="7434072" y="2423160"/>
            <a:ext cx="1828800" cy="548640"/>
          </a:xfrm>
          <a:prstGeom prst="rect">
            <a:avLst/>
          </a:prstGeom>
          <a:noFill/>
          <a:ln/>
        </p:spPr>
        <p:txBody>
          <a:bodyPr wrap="square" lIns="0" tIns="0" rIns="0" bIns="0" rtlCol="0" anchor="t"/>
          <a:lstStyle/>
          <a:p>
            <a:pPr indent="0" marL="0">
              <a:buNone/>
            </a:pPr>
            <a:r>
              <a:rPr lang="en-US" sz="1000" b="1" dirty="0">
                <a:solidFill>
                  <a:schemeClr val="bg1"/>
                </a:solidFill>
              </a:rPr>
              <a:t>04</a:t>
            </a:r>
            <a:endParaRPr lang="en-US" sz="1000" dirty="0"/>
          </a:p>
          <a:p>
            <a:pPr indent="0" marL="0">
              <a:buNone/>
            </a:pPr>
            <a:r>
              <a:rPr lang="en-US" sz="1400" b="1" dirty="0">
                <a:solidFill>
                  <a:schemeClr val="bg1"/>
                </a:solidFill>
              </a:rPr>
              <a:t>FORECASTING</a:t>
            </a:r>
            <a:endParaRPr lang="en-US" sz="1000" dirty="0"/>
          </a:p>
        </p:txBody>
      </p:sp>
      <p:sp>
        <p:nvSpPr>
          <p:cNvPr id="32" name="Text 30"/>
          <p:cNvSpPr txBox="1"/>
          <p:nvPr/>
        </p:nvSpPr>
        <p:spPr>
          <a:xfrm>
            <a:off x="7434072"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Moving-average and RSI rules, an earnings event study, analyst consensus.</a:t>
            </a:r>
            <a:endParaRPr lang="en-US" sz="1000" dirty="0"/>
          </a:p>
        </p:txBody>
      </p:sp>
      <p:sp>
        <p:nvSpPr>
          <p:cNvPr id="33" name="Text 31"/>
          <p:cNvSpPr txBox="1"/>
          <p:nvPr/>
        </p:nvSpPr>
        <p:spPr>
          <a:xfrm>
            <a:off x="7434072"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Buy-and-hold, after a 0.25% trading cost.</a:t>
            </a:r>
            <a:endParaRPr lang="en-US" sz="1000" dirty="0"/>
          </a:p>
        </p:txBody>
      </p:sp>
      <p:sp>
        <p:nvSpPr>
          <p:cNvPr id="34" name="Shape 32"/>
          <p:cNvSpPr/>
          <p:nvPr/>
        </p:nvSpPr>
        <p:spPr>
          <a:xfrm>
            <a:off x="7434072" y="5074920"/>
            <a:ext cx="1828800" cy="0"/>
          </a:xfrm>
          <a:prstGeom prst="line">
            <a:avLst/>
          </a:prstGeom>
          <a:noFill/>
          <a:ln w="9525">
            <a:solidFill>
              <a:schemeClr val="accent6"/>
            </a:solidFill>
            <a:prstDash val="solid"/>
          </a:ln>
        </p:spPr>
      </p:sp>
      <p:sp>
        <p:nvSpPr>
          <p:cNvPr id="35" name="Text 33"/>
          <p:cNvSpPr txBox="1"/>
          <p:nvPr/>
        </p:nvSpPr>
        <p:spPr>
          <a:xfrm>
            <a:off x="7434072"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0 of 8</a:t>
            </a:r>
            <a:endParaRPr lang="en-US" sz="2600" dirty="0"/>
          </a:p>
        </p:txBody>
      </p:sp>
      <p:sp>
        <p:nvSpPr>
          <p:cNvPr id="36" name="Text 34"/>
          <p:cNvSpPr txBox="1"/>
          <p:nvPr/>
        </p:nvSpPr>
        <p:spPr>
          <a:xfrm>
            <a:off x="7434072"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trading rules beat buy-and-hold</a:t>
            </a:r>
            <a:endParaRPr lang="en-US" sz="1100" dirty="0"/>
          </a:p>
        </p:txBody>
      </p:sp>
      <p:sp>
        <p:nvSpPr>
          <p:cNvPr id="37" name="ai-task-5"/>
          <p:cNvSpPr/>
          <p:nvPr/>
        </p:nvSpPr>
        <p:spPr>
          <a:xfrm>
            <a:off x="9546336" y="2331720"/>
            <a:ext cx="2093976" cy="3886200"/>
          </a:xfrm>
          <a:prstGeom prst="rect">
            <a:avLst/>
          </a:prstGeom>
          <a:solidFill>
            <a:schemeClr val="bg1"/>
          </a:solidFill>
          <a:ln w="9525">
            <a:solidFill>
              <a:schemeClr val="accent6"/>
            </a:solidFill>
            <a:prstDash val="solid"/>
          </a:ln>
        </p:spPr>
      </p:sp>
      <p:sp>
        <p:nvSpPr>
          <p:cNvPr id="38" name="Shape 36"/>
          <p:cNvSpPr/>
          <p:nvPr/>
        </p:nvSpPr>
        <p:spPr>
          <a:xfrm>
            <a:off x="9546336" y="2331720"/>
            <a:ext cx="2093976" cy="685800"/>
          </a:xfrm>
          <a:prstGeom prst="rect">
            <a:avLst/>
          </a:prstGeom>
          <a:solidFill>
            <a:schemeClr val="tx2"/>
          </a:solidFill>
          <a:ln w="12700">
            <a:solidFill>
              <a:schemeClr val="tx2"/>
            </a:solidFill>
            <a:prstDash val="solid"/>
          </a:ln>
        </p:spPr>
      </p:sp>
      <p:sp>
        <p:nvSpPr>
          <p:cNvPr id="39" name="Text 37"/>
          <p:cNvSpPr txBox="1"/>
          <p:nvPr/>
        </p:nvSpPr>
        <p:spPr>
          <a:xfrm>
            <a:off x="9683496" y="2423160"/>
            <a:ext cx="1828800" cy="548640"/>
          </a:xfrm>
          <a:prstGeom prst="rect">
            <a:avLst/>
          </a:prstGeom>
          <a:noFill/>
          <a:ln/>
        </p:spPr>
        <p:txBody>
          <a:bodyPr wrap="square" lIns="0" tIns="0" rIns="0" bIns="0" rtlCol="0" anchor="t"/>
          <a:lstStyle/>
          <a:p>
            <a:pPr indent="0" marL="0">
              <a:buNone/>
            </a:pPr>
            <a:r>
              <a:rPr lang="en-US" sz="1000" b="1" dirty="0">
                <a:solidFill>
                  <a:schemeClr val="bg1"/>
                </a:solidFill>
              </a:rPr>
              <a:t>05</a:t>
            </a:r>
            <a:endParaRPr lang="en-US" sz="1000" dirty="0"/>
          </a:p>
          <a:p>
            <a:pPr indent="0" marL="0">
              <a:buNone/>
            </a:pPr>
            <a:r>
              <a:rPr lang="en-US" sz="1400" b="1" dirty="0">
                <a:solidFill>
                  <a:schemeClr val="bg1"/>
                </a:solidFill>
              </a:rPr>
              <a:t>RISK HEATMAPS</a:t>
            </a:r>
            <a:endParaRPr lang="en-US" sz="1000" dirty="0"/>
          </a:p>
        </p:txBody>
      </p:sp>
      <p:sp>
        <p:nvSpPr>
          <p:cNvPr id="40" name="Text 38"/>
          <p:cNvSpPr txBox="1"/>
          <p:nvPr/>
        </p:nvSpPr>
        <p:spPr>
          <a:xfrm>
            <a:off x="9683496"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Correlation, rolling correlation, risk contribution, stress tests.</a:t>
            </a:r>
            <a:endParaRPr lang="en-US" sz="1000" dirty="0"/>
          </a:p>
        </p:txBody>
      </p:sp>
      <p:sp>
        <p:nvSpPr>
          <p:cNvPr id="41" name="Text 39"/>
          <p:cNvSpPr txBox="1"/>
          <p:nvPr/>
        </p:nvSpPr>
        <p:spPr>
          <a:xfrm>
            <a:off x="9683496"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Four real sell-offs since 2020.</a:t>
            </a:r>
            <a:endParaRPr lang="en-US" sz="1000" dirty="0"/>
          </a:p>
        </p:txBody>
      </p:sp>
      <p:sp>
        <p:nvSpPr>
          <p:cNvPr id="42" name="Shape 40"/>
          <p:cNvSpPr/>
          <p:nvPr/>
        </p:nvSpPr>
        <p:spPr>
          <a:xfrm>
            <a:off x="9683496" y="5074920"/>
            <a:ext cx="1828800" cy="0"/>
          </a:xfrm>
          <a:prstGeom prst="line">
            <a:avLst/>
          </a:prstGeom>
          <a:noFill/>
          <a:ln w="9525">
            <a:solidFill>
              <a:schemeClr val="accent6"/>
            </a:solidFill>
            <a:prstDash val="solid"/>
          </a:ln>
        </p:spPr>
      </p:sp>
      <p:sp>
        <p:nvSpPr>
          <p:cNvPr id="43" name="Text 41"/>
          <p:cNvSpPr txBox="1"/>
          <p:nvPr/>
        </p:nvSpPr>
        <p:spPr>
          <a:xfrm>
            <a:off x="9683496"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57%</a:t>
            </a:r>
            <a:endParaRPr lang="en-US" sz="2600" dirty="0"/>
          </a:p>
        </p:txBody>
      </p:sp>
      <p:sp>
        <p:nvSpPr>
          <p:cNvPr id="44" name="Text 42"/>
          <p:cNvSpPr txBox="1"/>
          <p:nvPr/>
        </p:nvSpPr>
        <p:spPr>
          <a:xfrm>
            <a:off x="9683496"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of portfolio risk is ICICI, at 50% weight</a:t>
            </a:r>
            <a:endParaRPr lang="en-US" sz="1100" dirty="0"/>
          </a:p>
        </p:txBody>
      </p:sp>
      <p:sp>
        <p:nvSpPr>
          <p:cNvPr id="45" name="Text 43"/>
          <p:cNvSpPr txBox="1"/>
          <p:nvPr/>
        </p:nvSpPr>
        <p:spPr>
          <a:xfrm>
            <a:off x="548640" y="6382512"/>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Prompts: docs/ai_prompts.md. Extraction: data/ai/ratio_extraction.json (page references for every figure). FinBERT: ProsusAI/finbert. Headlines: Google News RSS, last 12 months.</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292608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04 - LIVE DEMO</a:t>
            </a:r>
            <a:endParaRPr lang="en-US" sz="1000" dirty="0"/>
          </a:p>
        </p:txBody>
      </p:sp>
      <p:sp>
        <p:nvSpPr>
          <p:cNvPr id="3" name="Text 2"/>
          <p:cNvSpPr/>
          <p:nvPr>
            <p:ph idx="103" type="title" hasCustomPrompt="1"/>
          </p:nvPr>
        </p:nvSpPr>
        <p:spPr>
          <a:xfrm>
            <a:off x="548640" y="731520"/>
            <a:ext cx="2926080" cy="960120"/>
          </a:xfrm>
          <a:prstGeom prst="rect">
            <a:avLst/>
          </a:prstGeom>
          <a:noFill/>
          <a:ln/>
        </p:spPr>
        <p:txBody>
          <a:bodyPr wrap="square" lIns="0" tIns="0" rIns="0" bIns="0" rtlCol="0" anchor="t"/>
          <a:lstStyle/>
          <a:p>
            <a:pPr algn="l" indent="0" marL="0">
              <a:buNone/>
            </a:pPr>
            <a:r>
              <a:rPr lang="en-US" sz="2800" b="1" dirty="0">
                <a:solidFill>
                  <a:schemeClr val="bg1"/>
                </a:solidFill>
              </a:rPr>
              <a:t>SEE IT LIVE</a:t>
            </a:r>
            <a:endParaRPr lang="en-US" sz="2800" dirty="0"/>
          </a:p>
        </p:txBody>
      </p:sp>
      <p:sp>
        <p:nvSpPr>
          <p:cNvPr id="4" name="Text 2"/>
          <p:cNvSpPr/>
          <p:nvPr>
            <p:ph idx="104" type="body" hasCustomPrompt="1"/>
          </p:nvPr>
        </p:nvSpPr>
        <p:spPr>
          <a:xfrm>
            <a:off x="548640" y="1783080"/>
            <a:ext cx="2926080" cy="457200"/>
          </a:xfrm>
          <a:prstGeom prst="rect">
            <a:avLst/>
          </a:prstGeom>
          <a:noFill/>
          <a:ln/>
        </p:spPr>
        <p:txBody>
          <a:bodyPr wrap="square" lIns="0" tIns="0" rIns="0" bIns="0" rtlCol="0" anchor="t"/>
          <a:lstStyle/>
          <a:p>
            <a:pPr algn="l" indent="0" marL="0">
              <a:buNone/>
            </a:pPr>
            <a:r>
              <a:rPr lang="en-US" sz="1400" dirty="0">
                <a:solidFill>
                  <a:schemeClr val="bg2"/>
                </a:solidFill>
              </a:rPr>
              <a:t>Two minutes, four stops on our dashboard.</a:t>
            </a:r>
            <a:endParaRPr lang="en-US" sz="1400" dirty="0"/>
          </a:p>
        </p:txBody>
      </p:sp>
      <p:sp>
        <p:nvSpPr>
          <p:cNvPr id="5" name="Text 3"/>
          <p:cNvSpPr txBox="1"/>
          <p:nvPr/>
        </p:nvSpPr>
        <p:spPr>
          <a:xfrm>
            <a:off x="548640" y="2450592"/>
            <a:ext cx="411480" cy="274320"/>
          </a:xfrm>
          <a:prstGeom prst="rect">
            <a:avLst/>
          </a:prstGeom>
          <a:noFill/>
          <a:ln/>
        </p:spPr>
        <p:txBody>
          <a:bodyPr wrap="square" lIns="0" tIns="0" rIns="0" bIns="0" rtlCol="0" anchor="t"/>
          <a:lstStyle/>
          <a:p>
            <a:pPr indent="0" marL="0">
              <a:buNone/>
            </a:pPr>
            <a:r>
              <a:rPr lang="en-US" sz="1100" b="1" dirty="0">
                <a:solidFill>
                  <a:schemeClr val="accent2"/>
                </a:solidFill>
              </a:rPr>
              <a:t>01</a:t>
            </a:r>
            <a:endParaRPr lang="en-US" sz="1100" dirty="0"/>
          </a:p>
        </p:txBody>
      </p:sp>
      <p:sp>
        <p:nvSpPr>
          <p:cNvPr id="6" name="Text 4"/>
          <p:cNvSpPr txBox="1"/>
          <p:nvPr/>
        </p:nvSpPr>
        <p:spPr>
          <a:xfrm>
            <a:off x="1005840" y="2423160"/>
            <a:ext cx="2880360" cy="731520"/>
          </a:xfrm>
          <a:prstGeom prst="rect">
            <a:avLst/>
          </a:prstGeom>
          <a:noFill/>
          <a:ln/>
        </p:spPr>
        <p:txBody>
          <a:bodyPr wrap="square" lIns="0" tIns="0" rIns="0" bIns="0" rtlCol="0" anchor="t"/>
          <a:lstStyle/>
          <a:p>
            <a:pPr indent="0" marL="0">
              <a:buNone/>
            </a:pPr>
            <a:r>
              <a:rPr lang="en-US" sz="1500" b="1" dirty="0">
                <a:solidFill>
                  <a:schemeClr val="bg1"/>
                </a:solidFill>
              </a:rPr>
              <a:t>RISK QUESTIONNAIRE</a:t>
            </a:r>
            <a:endParaRPr lang="en-US" sz="1500" dirty="0"/>
          </a:p>
          <a:p>
            <a:pPr indent="0" marL="0">
              <a:buNone/>
            </a:pPr>
            <a:r>
              <a:rPr lang="en-US" sz="1200" dirty="0">
                <a:solidFill>
                  <a:schemeClr val="accent6"/>
                </a:solidFill>
              </a:rPr>
              <a:t>Ten answers set your risk aversion A</a:t>
            </a:r>
            <a:endParaRPr lang="en-US" sz="1500" dirty="0"/>
          </a:p>
        </p:txBody>
      </p:sp>
      <p:sp>
        <p:nvSpPr>
          <p:cNvPr id="7" name="Text 5"/>
          <p:cNvSpPr txBox="1"/>
          <p:nvPr/>
        </p:nvSpPr>
        <p:spPr>
          <a:xfrm>
            <a:off x="548640" y="3236976"/>
            <a:ext cx="411480" cy="274320"/>
          </a:xfrm>
          <a:prstGeom prst="rect">
            <a:avLst/>
          </a:prstGeom>
          <a:noFill/>
          <a:ln/>
        </p:spPr>
        <p:txBody>
          <a:bodyPr wrap="square" lIns="0" tIns="0" rIns="0" bIns="0" rtlCol="0" anchor="t"/>
          <a:lstStyle/>
          <a:p>
            <a:pPr indent="0" marL="0">
              <a:buNone/>
            </a:pPr>
            <a:r>
              <a:rPr lang="en-US" sz="1100" b="1" dirty="0">
                <a:solidFill>
                  <a:schemeClr val="accent2"/>
                </a:solidFill>
              </a:rPr>
              <a:t>02</a:t>
            </a:r>
            <a:endParaRPr lang="en-US" sz="1100" dirty="0"/>
          </a:p>
        </p:txBody>
      </p:sp>
      <p:sp>
        <p:nvSpPr>
          <p:cNvPr id="8" name="Text 6"/>
          <p:cNvSpPr txBox="1"/>
          <p:nvPr/>
        </p:nvSpPr>
        <p:spPr>
          <a:xfrm>
            <a:off x="1005840" y="3209544"/>
            <a:ext cx="2880360" cy="731520"/>
          </a:xfrm>
          <a:prstGeom prst="rect">
            <a:avLst/>
          </a:prstGeom>
          <a:noFill/>
          <a:ln/>
        </p:spPr>
        <p:txBody>
          <a:bodyPr wrap="square" lIns="0" tIns="0" rIns="0" bIns="0" rtlCol="0" anchor="t"/>
          <a:lstStyle/>
          <a:p>
            <a:pPr indent="0" marL="0">
              <a:buNone/>
            </a:pPr>
            <a:r>
              <a:rPr lang="en-US" sz="1500" b="1" dirty="0">
                <a:solidFill>
                  <a:schemeClr val="bg1"/>
                </a:solidFill>
              </a:rPr>
              <a:t>YOUR PORTFOLIO</a:t>
            </a:r>
            <a:endParaRPr lang="en-US" sz="1500" dirty="0"/>
          </a:p>
          <a:p>
            <a:pPr indent="0" marL="0">
              <a:buNone/>
            </a:pPr>
            <a:r>
              <a:rPr lang="en-US" sz="1200" dirty="0">
                <a:solidFill>
                  <a:schemeClr val="accent6"/>
                </a:solidFill>
              </a:rPr>
              <a:t>The rupee split for your A; slide A from 4 to 2: 44% → 87% in P</a:t>
            </a:r>
            <a:endParaRPr lang="en-US" sz="1500" dirty="0"/>
          </a:p>
        </p:txBody>
      </p:sp>
      <p:sp>
        <p:nvSpPr>
          <p:cNvPr id="9" name="Text 7"/>
          <p:cNvSpPr txBox="1"/>
          <p:nvPr/>
        </p:nvSpPr>
        <p:spPr>
          <a:xfrm>
            <a:off x="548640" y="4023360"/>
            <a:ext cx="411480" cy="274320"/>
          </a:xfrm>
          <a:prstGeom prst="rect">
            <a:avLst/>
          </a:prstGeom>
          <a:noFill/>
          <a:ln/>
        </p:spPr>
        <p:txBody>
          <a:bodyPr wrap="square" lIns="0" tIns="0" rIns="0" bIns="0" rtlCol="0" anchor="t"/>
          <a:lstStyle/>
          <a:p>
            <a:pPr indent="0" marL="0">
              <a:buNone/>
            </a:pPr>
            <a:r>
              <a:rPr lang="en-US" sz="1100" b="1" dirty="0">
                <a:solidFill>
                  <a:schemeClr val="accent2"/>
                </a:solidFill>
              </a:rPr>
              <a:t>03</a:t>
            </a:r>
            <a:endParaRPr lang="en-US" sz="1100" dirty="0"/>
          </a:p>
        </p:txBody>
      </p:sp>
      <p:sp>
        <p:nvSpPr>
          <p:cNvPr id="10" name="Text 8"/>
          <p:cNvSpPr txBox="1"/>
          <p:nvPr/>
        </p:nvSpPr>
        <p:spPr>
          <a:xfrm>
            <a:off x="1005840" y="3995928"/>
            <a:ext cx="2880360" cy="731520"/>
          </a:xfrm>
          <a:prstGeom prst="rect">
            <a:avLst/>
          </a:prstGeom>
          <a:noFill/>
          <a:ln/>
        </p:spPr>
        <p:txBody>
          <a:bodyPr wrap="square" lIns="0" tIns="0" rIns="0" bIns="0" rtlCol="0" anchor="t"/>
          <a:lstStyle/>
          <a:p>
            <a:pPr indent="0" marL="0">
              <a:buNone/>
            </a:pPr>
            <a:r>
              <a:rPr lang="en-US" sz="1500" b="1" dirty="0">
                <a:solidFill>
                  <a:schemeClr val="bg1"/>
                </a:solidFill>
              </a:rPr>
              <a:t>RISK</a:t>
            </a:r>
            <a:endParaRPr lang="en-US" sz="1500" dirty="0"/>
          </a:p>
          <a:p>
            <a:pPr indent="0" marL="0">
              <a:buNone/>
            </a:pPr>
            <a:r>
              <a:rPr lang="en-US" sz="1200" dirty="0">
                <a:solidFill>
                  <a:schemeClr val="accent6"/>
                </a:solidFill>
              </a:rPr>
              <a:t>Your rupee loss in four real sell-offs</a:t>
            </a:r>
            <a:endParaRPr lang="en-US" sz="1500" dirty="0"/>
          </a:p>
        </p:txBody>
      </p:sp>
      <p:sp>
        <p:nvSpPr>
          <p:cNvPr id="11" name="Text 9"/>
          <p:cNvSpPr txBox="1"/>
          <p:nvPr/>
        </p:nvSpPr>
        <p:spPr>
          <a:xfrm>
            <a:off x="548640" y="4809744"/>
            <a:ext cx="411480" cy="274320"/>
          </a:xfrm>
          <a:prstGeom prst="rect">
            <a:avLst/>
          </a:prstGeom>
          <a:noFill/>
          <a:ln/>
        </p:spPr>
        <p:txBody>
          <a:bodyPr wrap="square" lIns="0" tIns="0" rIns="0" bIns="0" rtlCol="0" anchor="t"/>
          <a:lstStyle/>
          <a:p>
            <a:pPr indent="0" marL="0">
              <a:buNone/>
            </a:pPr>
            <a:r>
              <a:rPr lang="en-US" sz="1100" b="1" dirty="0">
                <a:solidFill>
                  <a:schemeClr val="accent2"/>
                </a:solidFill>
              </a:rPr>
              <a:t>04</a:t>
            </a:r>
            <a:endParaRPr lang="en-US" sz="1100" dirty="0"/>
          </a:p>
        </p:txBody>
      </p:sp>
      <p:sp>
        <p:nvSpPr>
          <p:cNvPr id="12" name="Text 10"/>
          <p:cNvSpPr txBox="1"/>
          <p:nvPr/>
        </p:nvSpPr>
        <p:spPr>
          <a:xfrm>
            <a:off x="1005840" y="4782312"/>
            <a:ext cx="2880360" cy="731520"/>
          </a:xfrm>
          <a:prstGeom prst="rect">
            <a:avLst/>
          </a:prstGeom>
          <a:noFill/>
          <a:ln/>
        </p:spPr>
        <p:txBody>
          <a:bodyPr wrap="square" lIns="0" tIns="0" rIns="0" bIns="0" rtlCol="0" anchor="t"/>
          <a:lstStyle/>
          <a:p>
            <a:pPr indent="0" marL="0">
              <a:buNone/>
            </a:pPr>
            <a:r>
              <a:rPr lang="en-US" sz="1500" b="1" dirty="0">
                <a:solidFill>
                  <a:schemeClr val="bg1"/>
                </a:solidFill>
              </a:rPr>
              <a:t>ASK THE PORTFOLIO</a:t>
            </a:r>
            <a:endParaRPr lang="en-US" sz="1500" dirty="0"/>
          </a:p>
          <a:p>
            <a:pPr indent="0" marL="0">
              <a:buNone/>
            </a:pPr>
            <a:r>
              <a:rPr lang="en-US" sz="1200" dirty="0">
                <a:solidFill>
                  <a:schemeClr val="accent6"/>
                </a:solidFill>
              </a:rPr>
              <a:t>One question, answered with its sources</a:t>
            </a:r>
            <a:endParaRPr lang="en-US" sz="1500" dirty="0"/>
          </a:p>
        </p:txBody>
      </p:sp>
      <p:sp>
        <p:nvSpPr>
          <p:cNvPr id="13" name="Text 11"/>
          <p:cNvSpPr txBox="1"/>
          <p:nvPr/>
        </p:nvSpPr>
        <p:spPr>
          <a:xfrm>
            <a:off x="548640" y="5760720"/>
            <a:ext cx="2926080" cy="548640"/>
          </a:xfrm>
          <a:prstGeom prst="rect">
            <a:avLst/>
          </a:prstGeom>
          <a:noFill/>
          <a:ln/>
        </p:spPr>
        <p:txBody>
          <a:bodyPr wrap="square" lIns="0" tIns="0" rIns="0" bIns="0" rtlCol="0" anchor="t"/>
          <a:lstStyle/>
          <a:p>
            <a:pPr indent="0" marL="0">
              <a:buNone/>
            </a:pPr>
            <a:r>
              <a:rPr lang="en-US" sz="1000" b="1" dirty="0">
                <a:solidFill>
                  <a:schemeClr val="accent2"/>
                </a:solidFill>
              </a:rPr>
              <a:t>LOCAL COPY</a:t>
            </a:r>
            <a:endParaRPr lang="en-US" sz="1000" dirty="0"/>
          </a:p>
          <a:p>
            <a:pPr indent="0" marL="0">
              <a:buNone/>
            </a:pPr>
            <a:r>
              <a:rPr lang="en-US" sz="1200" dirty="0">
                <a:solidFill>
                  <a:schemeClr val="bg1"/>
                </a:solidFill>
              </a:rPr>
              <a:t>streamlit run app.py</a:t>
            </a:r>
            <a:endParaRPr lang="en-US" sz="1000" dirty="0"/>
          </a:p>
        </p:txBody>
      </p:sp>
      <p:sp>
        <p:nvSpPr>
          <p:cNvPr id="14" name="demo-screenshot-frame"/>
          <p:cNvSpPr/>
          <p:nvPr/>
        </p:nvSpPr>
        <p:spPr>
          <a:xfrm>
            <a:off x="4526280" y="914400"/>
            <a:ext cx="7114032" cy="4261104"/>
          </a:xfrm>
          <a:prstGeom prst="rect">
            <a:avLst/>
          </a:prstGeom>
          <a:solidFill>
            <a:schemeClr val="bg1"/>
          </a:solidFill>
          <a:ln w="9525">
            <a:solidFill>
              <a:schemeClr val="accent6"/>
            </a:solidFill>
            <a:prstDash val="solid"/>
          </a:ln>
        </p:spPr>
      </p:sp>
      <p:pic>
        <p:nvPicPr>
          <p:cNvPr id="15" name="demo-screenshot" descr="C:\Users\abhay.ABHAYSLAPTOP\Desktop\year 3\sem 5\Security_Analysis\sa-portfolio\deliverables\assets\dash_portfolio.png">    </p:cNvPr>
          <p:cNvPicPr>
            <a:picLocks noChangeAspect="1"/>
          </p:cNvPicPr>
          <p:nvPr/>
        </p:nvPicPr>
        <p:blipFill>
          <a:blip r:embed="rId1"/>
          <a:stretch>
            <a:fillRect/>
          </a:stretch>
        </p:blipFill>
        <p:spPr>
          <a:xfrm>
            <a:off x="4592415" y="960120"/>
            <a:ext cx="6981763" cy="4169664"/>
          </a:xfrm>
          <a:prstGeom prst="rect">
            <a:avLst/>
          </a:prstGeom>
        </p:spPr>
      </p:pic>
      <p:sp>
        <p:nvSpPr>
          <p:cNvPr id="16" name="Text 13"/>
          <p:cNvSpPr txBox="1"/>
          <p:nvPr/>
        </p:nvSpPr>
        <p:spPr>
          <a:xfrm>
            <a:off x="4526280" y="5440680"/>
            <a:ext cx="7114032" cy="640080"/>
          </a:xfrm>
          <a:prstGeom prst="rect">
            <a:avLst/>
          </a:prstGeom>
          <a:noFill/>
          <a:ln/>
        </p:spPr>
        <p:txBody>
          <a:bodyPr wrap="square" lIns="0" tIns="0" rIns="0" bIns="0" rtlCol="0" anchor="t"/>
          <a:lstStyle/>
          <a:p>
            <a:pPr indent="0" marL="0">
              <a:buNone/>
            </a:pPr>
            <a:r>
              <a:rPr lang="en-US" sz="1000" b="1" dirty="0">
                <a:solidFill>
                  <a:schemeClr val="accent1"/>
                </a:solidFill>
              </a:rPr>
              <a:t>IF ANYTHING TAKES MORE THAN 10 SECONDS</a:t>
            </a:r>
            <a:endParaRPr lang="en-US" sz="1000" dirty="0"/>
          </a:p>
          <a:p>
            <a:pPr indent="0" marL="0">
              <a:buNone/>
            </a:pPr>
            <a:r>
              <a:rPr lang="en-US" sz="1300" dirty="0">
                <a:solidFill>
                  <a:schemeClr val="tx1"/>
                </a:solidFill>
              </a:rPr>
              <a:t>1 Live link  →  2 Local copy  →  3 Recorded walkthrough  →  4 Screenshots (A3)</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72237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05 - FORECASTING</a:t>
            </a:r>
            <a:endParaRPr lang="en-US" sz="1000" dirty="0"/>
          </a:p>
        </p:txBody>
      </p:sp>
      <p:sp>
        <p:nvSpPr>
          <p:cNvPr id="3" name="Text 2"/>
          <p:cNvSpPr/>
          <p:nvPr>
            <p:ph idx="103" type="title" hasCustomPrompt="1"/>
          </p:nvPr>
        </p:nvSpPr>
        <p:spPr>
          <a:xfrm>
            <a:off x="548640" y="731520"/>
            <a:ext cx="7223760" cy="960120"/>
          </a:xfrm>
          <a:prstGeom prst="rect">
            <a:avLst/>
          </a:prstGeom>
          <a:noFill/>
          <a:ln/>
        </p:spPr>
        <p:txBody>
          <a:bodyPr wrap="square" lIns="0" tIns="0" rIns="0" bIns="0" rtlCol="0" anchor="t"/>
          <a:lstStyle/>
          <a:p>
            <a:pPr algn="l" indent="0" marL="0">
              <a:buNone/>
            </a:pPr>
            <a:r>
              <a:rPr lang="en-US" sz="2800" b="1" dirty="0">
                <a:solidFill>
                  <a:schemeClr val="accent1"/>
                </a:solidFill>
              </a:rPr>
              <a:t>TECHNICAL ANALYSIS LOSES AFTER COSTS</a:t>
            </a:r>
            <a:endParaRPr lang="en-US" sz="2800" dirty="0"/>
          </a:p>
        </p:txBody>
      </p:sp>
      <p:sp>
        <p:nvSpPr>
          <p:cNvPr id="4" name="Text 2"/>
          <p:cNvSpPr/>
          <p:nvPr>
            <p:ph idx="104" type="body" hasCustomPrompt="1"/>
          </p:nvPr>
        </p:nvSpPr>
        <p:spPr>
          <a:xfrm>
            <a:off x="548640" y="1783080"/>
            <a:ext cx="7223760" cy="457200"/>
          </a:xfrm>
          <a:prstGeom prst="rect">
            <a:avLst/>
          </a:prstGeom>
          <a:noFill/>
          <a:ln/>
        </p:spPr>
        <p:txBody>
          <a:bodyPr wrap="square" lIns="0" tIns="0" rIns="0" bIns="0" rtlCol="0" anchor="t"/>
          <a:lstStyle/>
          <a:p>
            <a:pPr algn="l" indent="0" marL="0">
              <a:buNone/>
            </a:pPr>
            <a:r>
              <a:rPr lang="en-US" sz="1400" dirty="0">
                <a:solidFill>
                  <a:schemeClr val="tx1"/>
                </a:solidFill>
              </a:rPr>
              <a:t>The brief asked: is technical analysis possible? Sharpe ratio 2016–2026, after a 0.25% round-trip cost.</a:t>
            </a:r>
            <a:endParaRPr lang="en-US" sz="1400" dirty="0"/>
          </a:p>
        </p:txBody>
      </p:sp>
      <p:sp>
        <p:nvSpPr>
          <p:cNvPr id="5" name="ta-chart-card"/>
          <p:cNvSpPr/>
          <p:nvPr/>
        </p:nvSpPr>
        <p:spPr>
          <a:xfrm>
            <a:off x="548640" y="2286000"/>
            <a:ext cx="7223760" cy="3931920"/>
          </a:xfrm>
          <a:prstGeom prst="rect">
            <a:avLst/>
          </a:prstGeom>
          <a:solidFill>
            <a:schemeClr val="bg1"/>
          </a:solidFill>
          <a:ln w="9525">
            <a:solidFill>
              <a:schemeClr val="accent6"/>
            </a:solidFill>
            <a:prstDash val="solid"/>
          </a:ln>
        </p:spPr>
      </p:sp>
      <p:graphicFrame>
        <p:nvGraphicFramePr>
          <p:cNvPr id="6" name="ta-chart" descr=""/>
          <p:cNvGraphicFramePr/>
          <p:nvPr/>
        </p:nvGraphicFramePr>
        <p:xfrm>
          <a:off x="685800" y="2377440"/>
          <a:ext cx="694944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503920" y="1234440"/>
            <a:ext cx="320040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WEAK-FORM EFFICIENCY</a:t>
            </a:r>
            <a:endParaRPr lang="en-US" sz="1000" dirty="0"/>
          </a:p>
        </p:txBody>
      </p:sp>
      <p:sp>
        <p:nvSpPr>
          <p:cNvPr id="8" name="Text 5"/>
          <p:cNvSpPr txBox="1"/>
          <p:nvPr/>
        </p:nvSpPr>
        <p:spPr>
          <a:xfrm>
            <a:off x="8503920" y="1554480"/>
            <a:ext cx="3200400" cy="731520"/>
          </a:xfrm>
          <a:prstGeom prst="rect">
            <a:avLst/>
          </a:prstGeom>
          <a:noFill/>
          <a:ln/>
        </p:spPr>
        <p:txBody>
          <a:bodyPr wrap="square" lIns="0" tIns="0" rIns="0" bIns="0" rtlCol="0" anchor="t"/>
          <a:lstStyle/>
          <a:p>
            <a:pPr indent="0" marL="0">
              <a:buNone/>
            </a:pPr>
            <a:r>
              <a:rPr lang="en-US" sz="4400" b="1" dirty="0">
                <a:solidFill>
                  <a:schemeClr val="bg1"/>
                </a:solidFill>
                <a:latin typeface="Century Gothic" pitchFamily="34" charset="0"/>
                <a:ea typeface="Century Gothic" pitchFamily="34" charset="-122"/>
                <a:cs typeface="Century Gothic" pitchFamily="34" charset="-120"/>
              </a:rPr>
              <a:t>0 OF 8</a:t>
            </a:r>
            <a:endParaRPr lang="en-US" sz="4400" dirty="0"/>
          </a:p>
        </p:txBody>
      </p:sp>
      <p:sp>
        <p:nvSpPr>
          <p:cNvPr id="9" name="Text 6"/>
          <p:cNvSpPr txBox="1"/>
          <p:nvPr/>
        </p:nvSpPr>
        <p:spPr>
          <a:xfrm>
            <a:off x="8503920" y="2286000"/>
            <a:ext cx="3200400" cy="274320"/>
          </a:xfrm>
          <a:prstGeom prst="rect">
            <a:avLst/>
          </a:prstGeom>
          <a:noFill/>
          <a:ln/>
        </p:spPr>
        <p:txBody>
          <a:bodyPr wrap="square" lIns="0" tIns="0" rIns="0" bIns="0" rtlCol="0" anchor="t"/>
          <a:lstStyle/>
          <a:p>
            <a:pPr indent="0" marL="0">
              <a:buNone/>
            </a:pPr>
            <a:r>
              <a:rPr lang="en-US" sz="1000" b="1" dirty="0">
                <a:solidFill>
                  <a:schemeClr val="accent6"/>
                </a:solidFill>
              </a:rPr>
              <a:t>RULES THAT BEAT BUY-AND-HOLD</a:t>
            </a:r>
            <a:endParaRPr lang="en-US" sz="1000" dirty="0"/>
          </a:p>
        </p:txBody>
      </p:sp>
      <p:sp>
        <p:nvSpPr>
          <p:cNvPr id="10" name="Text 7"/>
          <p:cNvSpPr txBox="1"/>
          <p:nvPr/>
        </p:nvSpPr>
        <p:spPr>
          <a:xfrm>
            <a:off x="8503920" y="2606040"/>
            <a:ext cx="3200400" cy="548640"/>
          </a:xfrm>
          <a:prstGeom prst="rect">
            <a:avLst/>
          </a:prstGeom>
          <a:noFill/>
          <a:ln/>
        </p:spPr>
        <p:txBody>
          <a:bodyPr wrap="square" lIns="0" tIns="0" rIns="0" bIns="0" rtlCol="0" anchor="t"/>
          <a:lstStyle/>
          <a:p>
            <a:pPr indent="0" marL="0">
              <a:buNone/>
            </a:pPr>
            <a:r>
              <a:rPr lang="en-US" sz="1200" dirty="0">
                <a:solidFill>
                  <a:schemeClr val="accent6"/>
                </a:solidFill>
              </a:rPr>
              <a:t>The rules cut drawdowns, so they are risk controls, not return engines.</a:t>
            </a:r>
            <a:endParaRPr lang="en-US" sz="1200" dirty="0"/>
          </a:p>
        </p:txBody>
      </p:sp>
      <p:sp>
        <p:nvSpPr>
          <p:cNvPr id="11" name="Shape 8"/>
          <p:cNvSpPr/>
          <p:nvPr/>
        </p:nvSpPr>
        <p:spPr>
          <a:xfrm>
            <a:off x="8503920" y="3337560"/>
            <a:ext cx="3200400" cy="0"/>
          </a:xfrm>
          <a:prstGeom prst="line">
            <a:avLst/>
          </a:prstGeom>
          <a:noFill/>
          <a:ln w="9525">
            <a:solidFill>
              <a:schemeClr val="accent5"/>
            </a:solidFill>
            <a:prstDash val="solid"/>
          </a:ln>
        </p:spPr>
      </p:sp>
      <p:sp>
        <p:nvSpPr>
          <p:cNvPr id="12" name="Text 9"/>
          <p:cNvSpPr txBox="1"/>
          <p:nvPr/>
        </p:nvSpPr>
        <p:spPr>
          <a:xfrm>
            <a:off x="8503920" y="3520440"/>
            <a:ext cx="320040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SEMI-STRONG: NEWS IS PRICED FAST</a:t>
            </a:r>
            <a:endParaRPr lang="en-US" sz="1000" dirty="0"/>
          </a:p>
        </p:txBody>
      </p:sp>
      <p:sp>
        <p:nvSpPr>
          <p:cNvPr id="13" name="Text 10"/>
          <p:cNvSpPr txBox="1"/>
          <p:nvPr/>
        </p:nvSpPr>
        <p:spPr>
          <a:xfrm>
            <a:off x="8503920" y="3840480"/>
            <a:ext cx="3200400" cy="594360"/>
          </a:xfrm>
          <a:prstGeom prst="rect">
            <a:avLst/>
          </a:prstGeom>
          <a:noFill/>
          <a:ln/>
        </p:spPr>
        <p:txBody>
          <a:bodyPr wrap="square" lIns="0" tIns="0" rIns="0" bIns="0" rtlCol="0" anchor="t"/>
          <a:lstStyle/>
          <a:p>
            <a:pPr indent="0" marL="0">
              <a:buNone/>
            </a:pPr>
            <a:r>
              <a:rPr lang="en-US" sz="3200" b="1" dirty="0">
                <a:solidFill>
                  <a:schemeClr val="bg1"/>
                </a:solidFill>
                <a:latin typeface="Century Gothic" pitchFamily="34" charset="0"/>
                <a:ea typeface="Century Gothic" pitchFamily="34" charset="-122"/>
                <a:cs typeface="Century Gothic" pitchFamily="34" charset="-120"/>
              </a:rPr>
              <a:t>+1.2% / −1.6%</a:t>
            </a:r>
            <a:endParaRPr lang="en-US" sz="3200" dirty="0"/>
          </a:p>
        </p:txBody>
      </p:sp>
      <p:sp>
        <p:nvSpPr>
          <p:cNvPr id="14" name="Text 11"/>
          <p:cNvSpPr txBox="1"/>
          <p:nvPr/>
        </p:nvSpPr>
        <p:spPr>
          <a:xfrm>
            <a:off x="8503920" y="4434840"/>
            <a:ext cx="3200400" cy="457200"/>
          </a:xfrm>
          <a:prstGeom prst="rect">
            <a:avLst/>
          </a:prstGeom>
          <a:noFill/>
          <a:ln/>
        </p:spPr>
        <p:txBody>
          <a:bodyPr wrap="square" lIns="0" tIns="0" rIns="0" bIns="0" rtlCol="0" anchor="t"/>
          <a:lstStyle/>
          <a:p>
            <a:pPr indent="0" marL="0">
              <a:buNone/>
            </a:pPr>
            <a:r>
              <a:rPr lang="en-US" sz="1000" b="1" dirty="0">
                <a:solidFill>
                  <a:schemeClr val="accent6"/>
                </a:solidFill>
              </a:rPr>
              <a:t>3-DAY ABNORMAL RETURN AFTER EARNINGS BEATS / MISSES</a:t>
            </a:r>
            <a:endParaRPr lang="en-US" sz="1000" dirty="0"/>
          </a:p>
        </p:txBody>
      </p:sp>
      <p:sp>
        <p:nvSpPr>
          <p:cNvPr id="15" name="Text 12"/>
          <p:cNvSpPr txBox="1"/>
          <p:nvPr/>
        </p:nvSpPr>
        <p:spPr>
          <a:xfrm>
            <a:off x="8503920" y="4937760"/>
            <a:ext cx="3200400" cy="548640"/>
          </a:xfrm>
          <a:prstGeom prst="rect">
            <a:avLst/>
          </a:prstGeom>
          <a:noFill/>
          <a:ln/>
        </p:spPr>
        <p:txBody>
          <a:bodyPr wrap="square" lIns="0" tIns="0" rIns="0" bIns="0" rtlCol="0" anchor="t"/>
          <a:lstStyle/>
          <a:p>
            <a:pPr indent="0" marL="0">
              <a:buNone/>
            </a:pPr>
            <a:r>
              <a:rPr lang="en-US" sz="1200" dirty="0">
                <a:solidFill>
                  <a:schemeClr val="accent6"/>
                </a:solidFill>
              </a:rPr>
              <a:t>72 results announcements since 2016; market-model CAR over days −1 to +1.</a:t>
            </a:r>
            <a:endParaRPr lang="en-US" sz="1200" dirty="0"/>
          </a:p>
        </p:txBody>
      </p:sp>
      <p:sp>
        <p:nvSpPr>
          <p:cNvPr id="16" name="Text 13"/>
          <p:cNvSpPr txBox="1"/>
          <p:nvPr/>
        </p:nvSpPr>
        <p:spPr>
          <a:xfrm>
            <a:off x="548640" y="6382512"/>
            <a:ext cx="7406640" cy="274320"/>
          </a:xfrm>
          <a:prstGeom prst="rect">
            <a:avLst/>
          </a:prstGeom>
          <a:noFill/>
          <a:ln/>
        </p:spPr>
        <p:txBody>
          <a:bodyPr wrap="square" lIns="0" tIns="0" rIns="0" bIns="0" rtlCol="0" anchor="t"/>
          <a:lstStyle/>
          <a:p>
            <a:pPr indent="0" marL="0">
              <a:buNone/>
            </a:pPr>
            <a:r>
              <a:rPr lang="en-US" sz="1000" dirty="0">
                <a:solidFill>
                  <a:schemeClr val="tx2"/>
                </a:solidFill>
              </a:rPr>
              <a:t>Prices: Yahoo Finance, 2016–2026. Earnings surprises: Yahoo Finance earnings dates. Figure: data/submission/figures/ta.png.</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06 - PORTFOLIO</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accent1"/>
                </a:solidFill>
              </a:rPr>
              <a:t>31 / 19 / 50, SIZED TO EACH INVESTOR</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tx1"/>
                </a:solidFill>
              </a:rPr>
              <a:t>Forward-looking (CAPM) expected returns, 10–60% per stock. History alone would put 60% in last decade's winner.</a:t>
            </a:r>
            <a:endParaRPr lang="en-US" sz="1400" dirty="0"/>
          </a:p>
        </p:txBody>
      </p:sp>
      <p:sp>
        <p:nvSpPr>
          <p:cNvPr id="5" name="frontier-card"/>
          <p:cNvSpPr/>
          <p:nvPr/>
        </p:nvSpPr>
        <p:spPr>
          <a:xfrm>
            <a:off x="548640" y="2212848"/>
            <a:ext cx="7315200" cy="3310128"/>
          </a:xfrm>
          <a:prstGeom prst="rect">
            <a:avLst/>
          </a:prstGeom>
          <a:solidFill>
            <a:schemeClr val="bg1"/>
          </a:solidFill>
          <a:ln w="9525">
            <a:solidFill>
              <a:schemeClr val="accent6"/>
            </a:solidFill>
            <a:prstDash val="solid"/>
          </a:ln>
        </p:spPr>
      </p:sp>
      <p:pic>
        <p:nvPicPr>
          <p:cNvPr id="6" name="frontier" descr="C:\Users\abhay.ABHAYSLAPTOP\Desktop\year 3\sem 5\Security_Analysis\sa-portfolio\data\submission\figures\frontier.png">    </p:cNvPr>
          <p:cNvPicPr>
            <a:picLocks noChangeAspect="1"/>
          </p:cNvPicPr>
          <p:nvPr/>
        </p:nvPicPr>
        <p:blipFill>
          <a:blip r:embed="rId1"/>
          <a:stretch>
            <a:fillRect/>
          </a:stretch>
        </p:blipFill>
        <p:spPr>
          <a:xfrm>
            <a:off x="658368" y="2267712"/>
            <a:ext cx="7095744" cy="3163824"/>
          </a:xfrm>
          <a:prstGeom prst="rect">
            <a:avLst/>
          </a:prstGeom>
        </p:spPr>
      </p:pic>
      <p:sp>
        <p:nvSpPr>
          <p:cNvPr id="7" name="profile-Aggressive"/>
          <p:cNvSpPr/>
          <p:nvPr/>
        </p:nvSpPr>
        <p:spPr>
          <a:xfrm>
            <a:off x="8092440" y="2212848"/>
            <a:ext cx="3547872" cy="1005840"/>
          </a:xfrm>
          <a:prstGeom prst="rect">
            <a:avLst/>
          </a:prstGeom>
          <a:solidFill>
            <a:schemeClr val="bg1"/>
          </a:solidFill>
          <a:ln w="9525">
            <a:solidFill>
              <a:schemeClr val="accent6"/>
            </a:solidFill>
            <a:prstDash val="solid"/>
          </a:ln>
        </p:spPr>
      </p:sp>
      <p:sp>
        <p:nvSpPr>
          <p:cNvPr id="8" name="Text 5"/>
          <p:cNvSpPr txBox="1"/>
          <p:nvPr/>
        </p:nvSpPr>
        <p:spPr>
          <a:xfrm>
            <a:off x="8229600" y="2350008"/>
            <a:ext cx="1143000" cy="548640"/>
          </a:xfrm>
          <a:prstGeom prst="rect">
            <a:avLst/>
          </a:prstGeom>
          <a:noFill/>
          <a:ln/>
        </p:spPr>
        <p:txBody>
          <a:bodyPr wrap="square" lIns="0" tIns="0" rIns="0" bIns="0" rtlCol="0" anchor="t"/>
          <a:lstStyle/>
          <a:p>
            <a:pPr indent="0" marL="0">
              <a:buNone/>
            </a:pPr>
            <a:r>
              <a:rPr lang="en-US" sz="3000" b="1" dirty="0">
                <a:solidFill>
                  <a:schemeClr val="accent1"/>
                </a:solidFill>
                <a:latin typeface="Century Gothic" pitchFamily="34" charset="0"/>
                <a:ea typeface="Century Gothic" pitchFamily="34" charset="-122"/>
                <a:cs typeface="Century Gothic" pitchFamily="34" charset="-120"/>
              </a:rPr>
              <a:t>87%</a:t>
            </a:r>
            <a:endParaRPr lang="en-US" sz="3000" dirty="0"/>
          </a:p>
        </p:txBody>
      </p:sp>
      <p:sp>
        <p:nvSpPr>
          <p:cNvPr id="9" name="Text 6"/>
          <p:cNvSpPr txBox="1"/>
          <p:nvPr/>
        </p:nvSpPr>
        <p:spPr>
          <a:xfrm>
            <a:off x="8229600" y="2898648"/>
            <a:ext cx="1143000" cy="228600"/>
          </a:xfrm>
          <a:prstGeom prst="rect">
            <a:avLst/>
          </a:prstGeom>
          <a:noFill/>
          <a:ln/>
        </p:spPr>
        <p:txBody>
          <a:bodyPr wrap="square" lIns="0" tIns="0" rIns="0" bIns="0" rtlCol="0" anchor="t"/>
          <a:lstStyle/>
          <a:p>
            <a:pPr indent="0" marL="0">
              <a:buNone/>
            </a:pPr>
            <a:r>
              <a:rPr lang="en-US" sz="1000" b="1" dirty="0">
                <a:solidFill>
                  <a:schemeClr val="tx2"/>
                </a:solidFill>
              </a:rPr>
              <a:t>IN P</a:t>
            </a:r>
            <a:endParaRPr lang="en-US" sz="1000" dirty="0"/>
          </a:p>
        </p:txBody>
      </p:sp>
      <p:sp>
        <p:nvSpPr>
          <p:cNvPr id="10" name="Text 7"/>
          <p:cNvSpPr txBox="1"/>
          <p:nvPr/>
        </p:nvSpPr>
        <p:spPr>
          <a:xfrm>
            <a:off x="9418320" y="2331720"/>
            <a:ext cx="2148840" cy="822960"/>
          </a:xfrm>
          <a:prstGeom prst="rect">
            <a:avLst/>
          </a:prstGeom>
          <a:noFill/>
          <a:ln/>
        </p:spPr>
        <p:txBody>
          <a:bodyPr wrap="square" lIns="0" tIns="0" rIns="0" bIns="0" rtlCol="0" anchor="t"/>
          <a:lstStyle/>
          <a:p>
            <a:pPr indent="0" marL="0">
              <a:buNone/>
            </a:pPr>
            <a:r>
              <a:rPr lang="en-US" sz="1200" b="1" dirty="0">
                <a:solidFill>
                  <a:schemeClr val="tx1"/>
                </a:solidFill>
              </a:rPr>
              <a:t>AGGRESSIVE · A = 2</a:t>
            </a:r>
            <a:endParaRPr lang="en-US" sz="1200" dirty="0"/>
          </a:p>
          <a:p>
            <a:pPr indent="0" marL="0">
              <a:buNone/>
            </a:pPr>
            <a:r>
              <a:rPr lang="en-US" sz="1200" dirty="0">
                <a:solidFill>
                  <a:schemeClr val="tx2"/>
                </a:solidFill>
              </a:rPr>
              <a:t>E(r) 11.4% · σ 17.2%</a:t>
            </a:r>
            <a:endParaRPr lang="en-US" sz="1200" dirty="0"/>
          </a:p>
          <a:p>
            <a:pPr indent="0" marL="0">
              <a:buNone/>
            </a:pPr>
            <a:r>
              <a:rPr lang="en-US" sz="1200" dirty="0">
                <a:solidFill>
                  <a:schemeClr val="tx2"/>
                </a:solidFill>
              </a:rPr>
              <a:t>Certainty equivalent 8.5%</a:t>
            </a:r>
            <a:endParaRPr lang="en-US" sz="1200" dirty="0"/>
          </a:p>
        </p:txBody>
      </p:sp>
      <p:sp>
        <p:nvSpPr>
          <p:cNvPr id="11" name="profile-Balanced"/>
          <p:cNvSpPr/>
          <p:nvPr/>
        </p:nvSpPr>
        <p:spPr>
          <a:xfrm>
            <a:off x="8092440" y="3346704"/>
            <a:ext cx="3547872" cy="1005840"/>
          </a:xfrm>
          <a:prstGeom prst="rect">
            <a:avLst/>
          </a:prstGeom>
          <a:solidFill>
            <a:schemeClr val="bg1"/>
          </a:solidFill>
          <a:ln w="9525">
            <a:solidFill>
              <a:schemeClr val="accent6"/>
            </a:solidFill>
            <a:prstDash val="solid"/>
          </a:ln>
        </p:spPr>
      </p:sp>
      <p:sp>
        <p:nvSpPr>
          <p:cNvPr id="12" name="Text 9"/>
          <p:cNvSpPr txBox="1"/>
          <p:nvPr/>
        </p:nvSpPr>
        <p:spPr>
          <a:xfrm>
            <a:off x="8229600" y="3483864"/>
            <a:ext cx="1143000" cy="548640"/>
          </a:xfrm>
          <a:prstGeom prst="rect">
            <a:avLst/>
          </a:prstGeom>
          <a:noFill/>
          <a:ln/>
        </p:spPr>
        <p:txBody>
          <a:bodyPr wrap="square" lIns="0" tIns="0" rIns="0" bIns="0" rtlCol="0" anchor="t"/>
          <a:lstStyle/>
          <a:p>
            <a:pPr indent="0" marL="0">
              <a:buNone/>
            </a:pPr>
            <a:r>
              <a:rPr lang="en-US" sz="3000" b="1" dirty="0">
                <a:solidFill>
                  <a:schemeClr val="tx1"/>
                </a:solidFill>
                <a:latin typeface="Century Gothic" pitchFamily="34" charset="0"/>
                <a:ea typeface="Century Gothic" pitchFamily="34" charset="-122"/>
                <a:cs typeface="Century Gothic" pitchFamily="34" charset="-120"/>
              </a:rPr>
              <a:t>44%</a:t>
            </a:r>
            <a:endParaRPr lang="en-US" sz="3000" dirty="0"/>
          </a:p>
        </p:txBody>
      </p:sp>
      <p:sp>
        <p:nvSpPr>
          <p:cNvPr id="13" name="Text 10"/>
          <p:cNvSpPr txBox="1"/>
          <p:nvPr/>
        </p:nvSpPr>
        <p:spPr>
          <a:xfrm>
            <a:off x="8229600" y="4032504"/>
            <a:ext cx="1143000" cy="228600"/>
          </a:xfrm>
          <a:prstGeom prst="rect">
            <a:avLst/>
          </a:prstGeom>
          <a:noFill/>
          <a:ln/>
        </p:spPr>
        <p:txBody>
          <a:bodyPr wrap="square" lIns="0" tIns="0" rIns="0" bIns="0" rtlCol="0" anchor="t"/>
          <a:lstStyle/>
          <a:p>
            <a:pPr indent="0" marL="0">
              <a:buNone/>
            </a:pPr>
            <a:r>
              <a:rPr lang="en-US" sz="1000" b="1" dirty="0">
                <a:solidFill>
                  <a:schemeClr val="tx2"/>
                </a:solidFill>
              </a:rPr>
              <a:t>IN P</a:t>
            </a:r>
            <a:endParaRPr lang="en-US" sz="1000" dirty="0"/>
          </a:p>
        </p:txBody>
      </p:sp>
      <p:sp>
        <p:nvSpPr>
          <p:cNvPr id="14" name="Text 11"/>
          <p:cNvSpPr txBox="1"/>
          <p:nvPr/>
        </p:nvSpPr>
        <p:spPr>
          <a:xfrm>
            <a:off x="9418320" y="3465576"/>
            <a:ext cx="2148840" cy="822960"/>
          </a:xfrm>
          <a:prstGeom prst="rect">
            <a:avLst/>
          </a:prstGeom>
          <a:noFill/>
          <a:ln/>
        </p:spPr>
        <p:txBody>
          <a:bodyPr wrap="square" lIns="0" tIns="0" rIns="0" bIns="0" rtlCol="0" anchor="t"/>
          <a:lstStyle/>
          <a:p>
            <a:pPr indent="0" marL="0">
              <a:buNone/>
            </a:pPr>
            <a:r>
              <a:rPr lang="en-US" sz="1200" b="1" dirty="0">
                <a:solidFill>
                  <a:schemeClr val="tx1"/>
                </a:solidFill>
              </a:rPr>
              <a:t>BALANCED · A = 4</a:t>
            </a:r>
            <a:endParaRPr lang="en-US" sz="1200" dirty="0"/>
          </a:p>
          <a:p>
            <a:pPr indent="0" marL="0">
              <a:buNone/>
            </a:pPr>
            <a:r>
              <a:rPr lang="en-US" sz="1200" dirty="0">
                <a:solidFill>
                  <a:schemeClr val="tx2"/>
                </a:solidFill>
              </a:rPr>
              <a:t>E(r) 8.5% · σ 8.6%</a:t>
            </a:r>
            <a:endParaRPr lang="en-US" sz="1200" dirty="0"/>
          </a:p>
          <a:p>
            <a:pPr indent="0" marL="0">
              <a:buNone/>
            </a:pPr>
            <a:r>
              <a:rPr lang="en-US" sz="1200" dirty="0">
                <a:solidFill>
                  <a:schemeClr val="tx2"/>
                </a:solidFill>
              </a:rPr>
              <a:t>Certainty equivalent 7.0%</a:t>
            </a:r>
            <a:endParaRPr lang="en-US" sz="1200" dirty="0"/>
          </a:p>
        </p:txBody>
      </p:sp>
      <p:sp>
        <p:nvSpPr>
          <p:cNvPr id="15" name="profile-Conservative"/>
          <p:cNvSpPr/>
          <p:nvPr/>
        </p:nvSpPr>
        <p:spPr>
          <a:xfrm>
            <a:off x="8092440" y="4480560"/>
            <a:ext cx="3547872" cy="1005840"/>
          </a:xfrm>
          <a:prstGeom prst="rect">
            <a:avLst/>
          </a:prstGeom>
          <a:solidFill>
            <a:schemeClr val="bg1"/>
          </a:solidFill>
          <a:ln w="9525">
            <a:solidFill>
              <a:schemeClr val="accent6"/>
            </a:solidFill>
            <a:prstDash val="solid"/>
          </a:ln>
        </p:spPr>
      </p:sp>
      <p:sp>
        <p:nvSpPr>
          <p:cNvPr id="16" name="Text 13"/>
          <p:cNvSpPr txBox="1"/>
          <p:nvPr/>
        </p:nvSpPr>
        <p:spPr>
          <a:xfrm>
            <a:off x="8229600" y="4617720"/>
            <a:ext cx="1143000" cy="548640"/>
          </a:xfrm>
          <a:prstGeom prst="rect">
            <a:avLst/>
          </a:prstGeom>
          <a:noFill/>
          <a:ln/>
        </p:spPr>
        <p:txBody>
          <a:bodyPr wrap="square" lIns="0" tIns="0" rIns="0" bIns="0" rtlCol="0" anchor="t"/>
          <a:lstStyle/>
          <a:p>
            <a:pPr indent="0" marL="0">
              <a:buNone/>
            </a:pPr>
            <a:r>
              <a:rPr lang="en-US" sz="3000" b="1" dirty="0">
                <a:solidFill>
                  <a:schemeClr val="accent3"/>
                </a:solidFill>
                <a:latin typeface="Century Gothic" pitchFamily="34" charset="0"/>
                <a:ea typeface="Century Gothic" pitchFamily="34" charset="-122"/>
                <a:cs typeface="Century Gothic" pitchFamily="34" charset="-120"/>
              </a:rPr>
              <a:t>29%</a:t>
            </a:r>
            <a:endParaRPr lang="en-US" sz="3000" dirty="0"/>
          </a:p>
        </p:txBody>
      </p:sp>
      <p:sp>
        <p:nvSpPr>
          <p:cNvPr id="17" name="Text 14"/>
          <p:cNvSpPr txBox="1"/>
          <p:nvPr/>
        </p:nvSpPr>
        <p:spPr>
          <a:xfrm>
            <a:off x="8229600" y="5166360"/>
            <a:ext cx="1143000" cy="228600"/>
          </a:xfrm>
          <a:prstGeom prst="rect">
            <a:avLst/>
          </a:prstGeom>
          <a:noFill/>
          <a:ln/>
        </p:spPr>
        <p:txBody>
          <a:bodyPr wrap="square" lIns="0" tIns="0" rIns="0" bIns="0" rtlCol="0" anchor="t"/>
          <a:lstStyle/>
          <a:p>
            <a:pPr indent="0" marL="0">
              <a:buNone/>
            </a:pPr>
            <a:r>
              <a:rPr lang="en-US" sz="1000" b="1" dirty="0">
                <a:solidFill>
                  <a:schemeClr val="tx2"/>
                </a:solidFill>
              </a:rPr>
              <a:t>IN P</a:t>
            </a:r>
            <a:endParaRPr lang="en-US" sz="1000" dirty="0"/>
          </a:p>
        </p:txBody>
      </p:sp>
      <p:sp>
        <p:nvSpPr>
          <p:cNvPr id="18" name="Text 15"/>
          <p:cNvSpPr txBox="1"/>
          <p:nvPr/>
        </p:nvSpPr>
        <p:spPr>
          <a:xfrm>
            <a:off x="9418320" y="4599432"/>
            <a:ext cx="2148840" cy="822960"/>
          </a:xfrm>
          <a:prstGeom prst="rect">
            <a:avLst/>
          </a:prstGeom>
          <a:noFill/>
          <a:ln/>
        </p:spPr>
        <p:txBody>
          <a:bodyPr wrap="square" lIns="0" tIns="0" rIns="0" bIns="0" rtlCol="0" anchor="t"/>
          <a:lstStyle/>
          <a:p>
            <a:pPr indent="0" marL="0">
              <a:buNone/>
            </a:pPr>
            <a:r>
              <a:rPr lang="en-US" sz="1200" b="1" dirty="0">
                <a:solidFill>
                  <a:schemeClr val="tx1"/>
                </a:solidFill>
              </a:rPr>
              <a:t>CONSERVATIVE · A = 6</a:t>
            </a:r>
            <a:endParaRPr lang="en-US" sz="1200" dirty="0"/>
          </a:p>
          <a:p>
            <a:pPr indent="0" marL="0">
              <a:buNone/>
            </a:pPr>
            <a:r>
              <a:rPr lang="en-US" sz="1200" dirty="0">
                <a:solidFill>
                  <a:schemeClr val="tx2"/>
                </a:solidFill>
              </a:rPr>
              <a:t>E(r) 7.5% · σ 5.7%</a:t>
            </a:r>
            <a:endParaRPr lang="en-US" sz="1200" dirty="0"/>
          </a:p>
          <a:p>
            <a:pPr indent="0" marL="0">
              <a:buNone/>
            </a:pPr>
            <a:r>
              <a:rPr lang="en-US" sz="1200" dirty="0">
                <a:solidFill>
                  <a:schemeClr val="tx2"/>
                </a:solidFill>
              </a:rPr>
              <a:t>Certainty equivalent 6.5%</a:t>
            </a:r>
            <a:endParaRPr lang="en-US" sz="1200" dirty="0"/>
          </a:p>
        </p:txBody>
      </p:sp>
      <p:sp>
        <p:nvSpPr>
          <p:cNvPr id="19" name="sharpe-callout"/>
          <p:cNvSpPr/>
          <p:nvPr/>
        </p:nvSpPr>
        <p:spPr>
          <a:xfrm>
            <a:off x="548640" y="5650992"/>
            <a:ext cx="11091672" cy="658368"/>
          </a:xfrm>
          <a:prstGeom prst="rect">
            <a:avLst/>
          </a:prstGeom>
          <a:solidFill>
            <a:schemeClr val="tx1"/>
          </a:solidFill>
          <a:ln w="9525">
            <a:solidFill>
              <a:schemeClr val="accent6"/>
            </a:solidFill>
            <a:prstDash val="solid"/>
          </a:ln>
        </p:spPr>
      </p:sp>
      <p:sp>
        <p:nvSpPr>
          <p:cNvPr id="20" name="Text 17"/>
          <p:cNvSpPr txBox="1"/>
          <p:nvPr/>
        </p:nvSpPr>
        <p:spPr>
          <a:xfrm>
            <a:off x="731520" y="5650992"/>
            <a:ext cx="2926080" cy="658368"/>
          </a:xfrm>
          <a:prstGeom prst="rect">
            <a:avLst/>
          </a:prstGeom>
          <a:noFill/>
          <a:ln/>
        </p:spPr>
        <p:txBody>
          <a:bodyPr wrap="square" lIns="0" tIns="0" rIns="0" bIns="0" rtlCol="0" anchor="ctr"/>
          <a:lstStyle/>
          <a:p>
            <a:pPr indent="0" marL="0">
              <a:buNone/>
            </a:pPr>
            <a:r>
              <a:rPr lang="en-US" sz="1800" b="1" dirty="0">
                <a:solidFill>
                  <a:schemeClr val="accent2"/>
                </a:solidFill>
              </a:rPr>
              <a:t>SHARPE 0.34 vs 0.44</a:t>
            </a:r>
            <a:endParaRPr lang="en-US" sz="1800" dirty="0"/>
          </a:p>
        </p:txBody>
      </p:sp>
      <p:sp>
        <p:nvSpPr>
          <p:cNvPr id="21" name="Text 18"/>
          <p:cNvSpPr txBox="1"/>
          <p:nvPr/>
        </p:nvSpPr>
        <p:spPr>
          <a:xfrm>
            <a:off x="3657600" y="5650992"/>
            <a:ext cx="7818120" cy="658368"/>
          </a:xfrm>
          <a:prstGeom prst="rect">
            <a:avLst/>
          </a:prstGeom>
          <a:noFill/>
          <a:ln/>
        </p:spPr>
        <p:txBody>
          <a:bodyPr wrap="square" lIns="0" tIns="0" rIns="0" bIns="0" rtlCol="0" anchor="ctr"/>
          <a:lstStyle/>
          <a:p>
            <a:pPr indent="0" marL="0">
              <a:buNone/>
            </a:pPr>
            <a:r>
              <a:rPr lang="en-US" sz="1200" dirty="0">
                <a:solidFill>
                  <a:schemeClr val="bg1"/>
                </a:solidFill>
              </a:rPr>
              <a:t>Three stocks don't beat the index on risk-adjusted terms, so the SIP pairs them with a Nifty core. Out of sample (2023–26): forward P +7.9%/yr, Nifty +7.4%, history-based P +3.2%.</a:t>
            </a:r>
            <a:endParaRPr lang="en-US" sz="12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292608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07 - THE LONG GAME</a:t>
            </a:r>
            <a:endParaRPr lang="en-US" sz="1000" dirty="0"/>
          </a:p>
        </p:txBody>
      </p:sp>
      <p:sp>
        <p:nvSpPr>
          <p:cNvPr id="3" name="Text 2"/>
          <p:cNvSpPr/>
          <p:nvPr>
            <p:ph idx="103" type="title" hasCustomPrompt="1"/>
          </p:nvPr>
        </p:nvSpPr>
        <p:spPr>
          <a:xfrm>
            <a:off x="548640" y="731520"/>
            <a:ext cx="2926080" cy="960120"/>
          </a:xfrm>
          <a:prstGeom prst="rect">
            <a:avLst/>
          </a:prstGeom>
          <a:noFill/>
          <a:ln/>
        </p:spPr>
        <p:txBody>
          <a:bodyPr wrap="square" lIns="0" tIns="0" rIns="0" bIns="0" rtlCol="0" anchor="t"/>
          <a:lstStyle/>
          <a:p>
            <a:pPr algn="l" indent="0" marL="0">
              <a:buNone/>
            </a:pPr>
            <a:r>
              <a:rPr lang="en-US" sz="2800" b="1" dirty="0">
                <a:solidFill>
                  <a:schemeClr val="bg1"/>
                </a:solidFill>
              </a:rPr>
              <a:t>OVER THE YEARS</a:t>
            </a:r>
            <a:endParaRPr lang="en-US" sz="2800" dirty="0"/>
          </a:p>
        </p:txBody>
      </p:sp>
      <p:sp>
        <p:nvSpPr>
          <p:cNvPr id="4" name="Text 2"/>
          <p:cNvSpPr/>
          <p:nvPr>
            <p:ph idx="104" type="body" hasCustomPrompt="1"/>
          </p:nvPr>
        </p:nvSpPr>
        <p:spPr>
          <a:xfrm>
            <a:off x="548640" y="1783080"/>
            <a:ext cx="2926080" cy="457200"/>
          </a:xfrm>
          <a:prstGeom prst="rect">
            <a:avLst/>
          </a:prstGeom>
          <a:noFill/>
          <a:ln/>
        </p:spPr>
        <p:txBody>
          <a:bodyPr wrap="square" lIns="0" tIns="0" rIns="0" bIns="0" rtlCol="0" anchor="t"/>
          <a:lstStyle/>
          <a:p>
            <a:pPr algn="l" indent="0" marL="0">
              <a:buNone/>
            </a:pPr>
            <a:r>
              <a:rPr lang="en-US" sz="1400" dirty="0">
                <a:solidFill>
                  <a:schemeClr val="bg2"/>
                </a:solidFill>
              </a:rPr>
              <a:t>₹10,000 a month for 15 years, under our Investment Policy Statement.</a:t>
            </a:r>
            <a:endParaRPr lang="en-US" sz="1400" dirty="0"/>
          </a:p>
        </p:txBody>
      </p:sp>
      <p:sp>
        <p:nvSpPr>
          <p:cNvPr id="5" name="Text 3"/>
          <p:cNvSpPr txBox="1"/>
          <p:nvPr/>
        </p:nvSpPr>
        <p:spPr>
          <a:xfrm>
            <a:off x="548640" y="2514600"/>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RETURN</a:t>
            </a:r>
            <a:endParaRPr lang="en-US" sz="1300" dirty="0"/>
          </a:p>
          <a:p>
            <a:pPr indent="0" marL="0">
              <a:buNone/>
            </a:pPr>
            <a:r>
              <a:rPr lang="en-US" sz="1200" dirty="0">
                <a:solidFill>
                  <a:schemeClr val="bg1"/>
                </a:solidFill>
              </a:rPr>
              <a:t>Beat 4% inflation clearly; target ₹75 lakh</a:t>
            </a:r>
            <a:endParaRPr lang="en-US" sz="1300" dirty="0"/>
          </a:p>
        </p:txBody>
      </p:sp>
      <p:sp>
        <p:nvSpPr>
          <p:cNvPr id="6" name="Text 4"/>
          <p:cNvSpPr txBox="1"/>
          <p:nvPr/>
        </p:nvSpPr>
        <p:spPr>
          <a:xfrm>
            <a:off x="548640" y="3264408"/>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RISK</a:t>
            </a:r>
            <a:endParaRPr lang="en-US" sz="1300" dirty="0"/>
          </a:p>
          <a:p>
            <a:pPr indent="0" marL="0">
              <a:buNone/>
            </a:pPr>
            <a:r>
              <a:rPr lang="en-US" sz="1200" dirty="0">
                <a:solidFill>
                  <a:schemeClr val="bg1"/>
                </a:solidFill>
              </a:rPr>
              <a:t>Balanced (A = 4) unless the questionnaire says otherwise</a:t>
            </a:r>
            <a:endParaRPr lang="en-US" sz="1300" dirty="0"/>
          </a:p>
        </p:txBody>
      </p:sp>
      <p:sp>
        <p:nvSpPr>
          <p:cNvPr id="7" name="Text 5"/>
          <p:cNvSpPr txBox="1"/>
          <p:nvPr/>
        </p:nvSpPr>
        <p:spPr>
          <a:xfrm>
            <a:off x="548640" y="4014216"/>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LIQUIDITY</a:t>
            </a:r>
            <a:endParaRPr lang="en-US" sz="1300" dirty="0"/>
          </a:p>
          <a:p>
            <a:pPr indent="0" marL="0">
              <a:buNone/>
            </a:pPr>
            <a:r>
              <a:rPr lang="en-US" sz="1200" dirty="0">
                <a:solidFill>
                  <a:schemeClr val="bg1"/>
                </a:solidFill>
              </a:rPr>
              <a:t>6 months of expenses kept outside the portfolio</a:t>
            </a:r>
            <a:endParaRPr lang="en-US" sz="1300" dirty="0"/>
          </a:p>
        </p:txBody>
      </p:sp>
      <p:sp>
        <p:nvSpPr>
          <p:cNvPr id="8" name="Text 6"/>
          <p:cNvSpPr txBox="1"/>
          <p:nvPr/>
        </p:nvSpPr>
        <p:spPr>
          <a:xfrm>
            <a:off x="548640" y="4764024"/>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REBALANCE</a:t>
            </a:r>
            <a:endParaRPr lang="en-US" sz="1300" dirty="0"/>
          </a:p>
          <a:p>
            <a:pPr indent="0" marL="0">
              <a:buNone/>
            </a:pPr>
            <a:r>
              <a:rPr lang="en-US" sz="1200" dirty="0">
                <a:solidFill>
                  <a:schemeClr val="bg1"/>
                </a:solidFill>
              </a:rPr>
              <a:t>Once a year, with new SIP money first</a:t>
            </a:r>
            <a:endParaRPr lang="en-US" sz="1300" dirty="0"/>
          </a:p>
        </p:txBody>
      </p:sp>
      <p:sp>
        <p:nvSpPr>
          <p:cNvPr id="9" name="Text 7"/>
          <p:cNvSpPr txBox="1"/>
          <p:nvPr/>
        </p:nvSpPr>
        <p:spPr>
          <a:xfrm>
            <a:off x="548640" y="5513832"/>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BEHAVIOUR</a:t>
            </a:r>
            <a:endParaRPr lang="en-US" sz="1300" dirty="0"/>
          </a:p>
          <a:p>
            <a:pPr indent="0" marL="0">
              <a:buNone/>
            </a:pPr>
            <a:r>
              <a:rPr lang="en-US" sz="1200" dirty="0">
                <a:solidFill>
                  <a:schemeClr val="bg1"/>
                </a:solidFill>
              </a:rPr>
              <a:t>No selling in the month after a 20% fall</a:t>
            </a:r>
            <a:endParaRPr lang="en-US" sz="1300" dirty="0"/>
          </a:p>
        </p:txBody>
      </p:sp>
      <p:sp>
        <p:nvSpPr>
          <p:cNvPr id="10" name="sip-stat-0"/>
          <p:cNvSpPr/>
          <p:nvPr/>
        </p:nvSpPr>
        <p:spPr>
          <a:xfrm>
            <a:off x="4526280" y="914400"/>
            <a:ext cx="2267712" cy="1005840"/>
          </a:xfrm>
          <a:prstGeom prst="rect">
            <a:avLst/>
          </a:prstGeom>
          <a:solidFill>
            <a:schemeClr val="bg1"/>
          </a:solidFill>
          <a:ln w="9525">
            <a:solidFill>
              <a:schemeClr val="accent6"/>
            </a:solidFill>
            <a:prstDash val="solid"/>
          </a:ln>
        </p:spPr>
      </p:sp>
      <p:sp>
        <p:nvSpPr>
          <p:cNvPr id="11" name="Text 9"/>
          <p:cNvSpPr txBox="1"/>
          <p:nvPr/>
        </p:nvSpPr>
        <p:spPr>
          <a:xfrm>
            <a:off x="4663440" y="1005840"/>
            <a:ext cx="2011680" cy="502920"/>
          </a:xfrm>
          <a:prstGeom prst="rect">
            <a:avLst/>
          </a:prstGeom>
          <a:noFill/>
          <a:ln/>
        </p:spPr>
        <p:txBody>
          <a:bodyPr wrap="square" lIns="0" tIns="0" rIns="0" bIns="0" rtlCol="0" anchor="t"/>
          <a:lstStyle/>
          <a:p>
            <a:pPr indent="0" marL="0">
              <a:buNone/>
            </a:pPr>
            <a:r>
              <a:rPr lang="en-US" sz="2400" b="1" dirty="0">
                <a:solidFill>
                  <a:schemeClr val="accent1"/>
                </a:solidFill>
                <a:latin typeface="Century Gothic" pitchFamily="34" charset="0"/>
                <a:ea typeface="Century Gothic" pitchFamily="34" charset="-122"/>
                <a:cs typeface="Century Gothic" pitchFamily="34" charset="-120"/>
              </a:rPr>
              <a:t>₹38.1 lakh</a:t>
            </a:r>
            <a:endParaRPr lang="en-US" sz="2400" dirty="0"/>
          </a:p>
        </p:txBody>
      </p:sp>
      <p:sp>
        <p:nvSpPr>
          <p:cNvPr id="12" name="Text 10"/>
          <p:cNvSpPr txBox="1"/>
          <p:nvPr/>
        </p:nvSpPr>
        <p:spPr>
          <a:xfrm>
            <a:off x="4663440" y="1536192"/>
            <a:ext cx="2011680" cy="320040"/>
          </a:xfrm>
          <a:prstGeom prst="rect">
            <a:avLst/>
          </a:prstGeom>
          <a:noFill/>
          <a:ln/>
        </p:spPr>
        <p:txBody>
          <a:bodyPr wrap="square" lIns="0" tIns="0" rIns="0" bIns="0" rtlCol="0" anchor="t"/>
          <a:lstStyle/>
          <a:p>
            <a:pPr indent="0" marL="0">
              <a:buNone/>
            </a:pPr>
            <a:r>
              <a:rPr lang="en-US" sz="1000" b="1" dirty="0">
                <a:solidFill>
                  <a:schemeClr val="tx2"/>
                </a:solidFill>
              </a:rPr>
              <a:t>INVESTED (10% STEP-UP A YEAR)</a:t>
            </a:r>
            <a:endParaRPr lang="en-US" sz="1000" dirty="0"/>
          </a:p>
        </p:txBody>
      </p:sp>
      <p:sp>
        <p:nvSpPr>
          <p:cNvPr id="13" name="sip-stat-1"/>
          <p:cNvSpPr/>
          <p:nvPr/>
        </p:nvSpPr>
        <p:spPr>
          <a:xfrm>
            <a:off x="6949440" y="914400"/>
            <a:ext cx="2267712" cy="1005840"/>
          </a:xfrm>
          <a:prstGeom prst="rect">
            <a:avLst/>
          </a:prstGeom>
          <a:solidFill>
            <a:schemeClr val="bg1"/>
          </a:solidFill>
          <a:ln w="9525">
            <a:solidFill>
              <a:schemeClr val="accent6"/>
            </a:solidFill>
            <a:prstDash val="solid"/>
          </a:ln>
        </p:spPr>
      </p:sp>
      <p:sp>
        <p:nvSpPr>
          <p:cNvPr id="14" name="Text 12"/>
          <p:cNvSpPr txBox="1"/>
          <p:nvPr/>
        </p:nvSpPr>
        <p:spPr>
          <a:xfrm>
            <a:off x="7086600" y="1005840"/>
            <a:ext cx="2011680" cy="502920"/>
          </a:xfrm>
          <a:prstGeom prst="rect">
            <a:avLst/>
          </a:prstGeom>
          <a:noFill/>
          <a:ln/>
        </p:spPr>
        <p:txBody>
          <a:bodyPr wrap="square" lIns="0" tIns="0" rIns="0" bIns="0" rtlCol="0" anchor="t"/>
          <a:lstStyle/>
          <a:p>
            <a:pPr indent="0" marL="0">
              <a:buNone/>
            </a:pPr>
            <a:r>
              <a:rPr lang="en-US" sz="2400" b="1" dirty="0">
                <a:solidFill>
                  <a:schemeClr val="accent1"/>
                </a:solidFill>
                <a:latin typeface="Century Gothic" pitchFamily="34" charset="0"/>
                <a:ea typeface="Century Gothic" pitchFamily="34" charset="-122"/>
                <a:cs typeface="Century Gothic" pitchFamily="34" charset="-120"/>
              </a:rPr>
              <a:t>₹64.8 lakh</a:t>
            </a:r>
            <a:endParaRPr lang="en-US" sz="2400" dirty="0"/>
          </a:p>
        </p:txBody>
      </p:sp>
      <p:sp>
        <p:nvSpPr>
          <p:cNvPr id="15" name="Text 13"/>
          <p:cNvSpPr txBox="1"/>
          <p:nvPr/>
        </p:nvSpPr>
        <p:spPr>
          <a:xfrm>
            <a:off x="7086600" y="1536192"/>
            <a:ext cx="2011680" cy="320040"/>
          </a:xfrm>
          <a:prstGeom prst="rect">
            <a:avLst/>
          </a:prstGeom>
          <a:noFill/>
          <a:ln/>
        </p:spPr>
        <p:txBody>
          <a:bodyPr wrap="square" lIns="0" tIns="0" rIns="0" bIns="0" rtlCol="0" anchor="t"/>
          <a:lstStyle/>
          <a:p>
            <a:pPr indent="0" marL="0">
              <a:buNone/>
            </a:pPr>
            <a:r>
              <a:rPr lang="en-US" sz="1000" b="1" dirty="0">
                <a:solidFill>
                  <a:schemeClr val="tx2"/>
                </a:solidFill>
              </a:rPr>
              <a:t>MEDIAN CORPUS, BALANCED</a:t>
            </a:r>
            <a:endParaRPr lang="en-US" sz="1000" dirty="0"/>
          </a:p>
        </p:txBody>
      </p:sp>
      <p:sp>
        <p:nvSpPr>
          <p:cNvPr id="16" name="sip-stat-2"/>
          <p:cNvSpPr/>
          <p:nvPr/>
        </p:nvSpPr>
        <p:spPr>
          <a:xfrm>
            <a:off x="9372600" y="914400"/>
            <a:ext cx="2267712" cy="1005840"/>
          </a:xfrm>
          <a:prstGeom prst="rect">
            <a:avLst/>
          </a:prstGeom>
          <a:solidFill>
            <a:schemeClr val="bg1"/>
          </a:solidFill>
          <a:ln w="9525">
            <a:solidFill>
              <a:schemeClr val="accent6"/>
            </a:solidFill>
            <a:prstDash val="solid"/>
          </a:ln>
        </p:spPr>
      </p:sp>
      <p:sp>
        <p:nvSpPr>
          <p:cNvPr id="17" name="Text 15"/>
          <p:cNvSpPr txBox="1"/>
          <p:nvPr/>
        </p:nvSpPr>
        <p:spPr>
          <a:xfrm>
            <a:off x="9509760" y="1005840"/>
            <a:ext cx="2011680" cy="502920"/>
          </a:xfrm>
          <a:prstGeom prst="rect">
            <a:avLst/>
          </a:prstGeom>
          <a:noFill/>
          <a:ln/>
        </p:spPr>
        <p:txBody>
          <a:bodyPr wrap="square" lIns="0" tIns="0" rIns="0" bIns="0" rtlCol="0" anchor="t"/>
          <a:lstStyle/>
          <a:p>
            <a:pPr indent="0" marL="0">
              <a:buNone/>
            </a:pPr>
            <a:r>
              <a:rPr lang="en-US" sz="2400" b="1" dirty="0">
                <a:solidFill>
                  <a:schemeClr val="accent1"/>
                </a:solidFill>
                <a:latin typeface="Century Gothic" pitchFamily="34" charset="0"/>
                <a:ea typeface="Century Gothic" pitchFamily="34" charset="-122"/>
                <a:cs typeface="Century Gothic" pitchFamily="34" charset="-120"/>
              </a:rPr>
              <a:t>19% / 11%</a:t>
            </a:r>
            <a:endParaRPr lang="en-US" sz="2400" dirty="0"/>
          </a:p>
        </p:txBody>
      </p:sp>
      <p:sp>
        <p:nvSpPr>
          <p:cNvPr id="18" name="Text 16"/>
          <p:cNvSpPr txBox="1"/>
          <p:nvPr/>
        </p:nvSpPr>
        <p:spPr>
          <a:xfrm>
            <a:off x="9509760" y="1536192"/>
            <a:ext cx="2011680" cy="320040"/>
          </a:xfrm>
          <a:prstGeom prst="rect">
            <a:avLst/>
          </a:prstGeom>
          <a:noFill/>
          <a:ln/>
        </p:spPr>
        <p:txBody>
          <a:bodyPr wrap="square" lIns="0" tIns="0" rIns="0" bIns="0" rtlCol="0" anchor="t"/>
          <a:lstStyle/>
          <a:p>
            <a:pPr indent="0" marL="0">
              <a:buNone/>
            </a:pPr>
            <a:r>
              <a:rPr lang="en-US" sz="1000" b="1" dirty="0">
                <a:solidFill>
                  <a:schemeClr val="tx2"/>
                </a:solidFill>
              </a:rPr>
              <a:t>CHANCE OF ₹75 LAKH (TWO MODELS)</a:t>
            </a:r>
            <a:endParaRPr lang="en-US" sz="1000" dirty="0"/>
          </a:p>
        </p:txBody>
      </p:sp>
      <p:sp>
        <p:nvSpPr>
          <p:cNvPr id="19" name="sip-card"/>
          <p:cNvSpPr/>
          <p:nvPr/>
        </p:nvSpPr>
        <p:spPr>
          <a:xfrm>
            <a:off x="4526280" y="2103120"/>
            <a:ext cx="7114032" cy="3200400"/>
          </a:xfrm>
          <a:prstGeom prst="rect">
            <a:avLst/>
          </a:prstGeom>
          <a:solidFill>
            <a:schemeClr val="bg1"/>
          </a:solidFill>
          <a:ln w="9525">
            <a:solidFill>
              <a:schemeClr val="accent6"/>
            </a:solidFill>
            <a:prstDash val="solid"/>
          </a:ln>
        </p:spPr>
      </p:sp>
      <p:pic>
        <p:nvPicPr>
          <p:cNvPr id="20" name="sip-fan" descr="C:\Users\abhay.ABHAYSLAPTOP\Desktop\year 3\sem 5\Security_Analysis\sa-portfolio\data\submission\figures\sip.png">    </p:cNvPr>
          <p:cNvPicPr>
            <a:picLocks noChangeAspect="1"/>
          </p:cNvPicPr>
          <p:nvPr/>
        </p:nvPicPr>
        <p:blipFill>
          <a:blip r:embed="rId1"/>
          <a:stretch>
            <a:fillRect/>
          </a:stretch>
        </p:blipFill>
        <p:spPr>
          <a:xfrm>
            <a:off x="4636008" y="2167128"/>
            <a:ext cx="6894576" cy="3035808"/>
          </a:xfrm>
          <a:prstGeom prst="rect">
            <a:avLst/>
          </a:prstGeom>
        </p:spPr>
      </p:pic>
      <p:sp>
        <p:nvSpPr>
          <p:cNvPr id="21" name="Text 18"/>
          <p:cNvSpPr txBox="1"/>
          <p:nvPr/>
        </p:nvSpPr>
        <p:spPr>
          <a:xfrm>
            <a:off x="4526280" y="5468112"/>
            <a:ext cx="7114032" cy="548640"/>
          </a:xfrm>
          <a:prstGeom prst="rect">
            <a:avLst/>
          </a:prstGeom>
          <a:noFill/>
          <a:ln/>
        </p:spPr>
        <p:txBody>
          <a:bodyPr wrap="square" lIns="0" tIns="0" rIns="0" bIns="0" rtlCol="0" anchor="t"/>
          <a:lstStyle/>
          <a:p>
            <a:pPr indent="0" marL="0">
              <a:buNone/>
            </a:pPr>
            <a:r>
              <a:rPr lang="en-US" sz="1200" dirty="0">
                <a:solidFill>
                  <a:schemeClr val="tx2"/>
                </a:solidFill>
              </a:rPr>
              <a:t>50% Nifty 50 index fund + 50% our three stocks, gliding to 40% equity. Parametric and bootstrap Monte Carlo, 10,000 paths, pre-tax. Aggressive: 36% / 29% chance of ₹75 lakh.</a:t>
            </a:r>
            <a:endParaRPr lang="en-US" sz="12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292608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08 - RECOMMENDATION</a:t>
            </a:r>
            <a:endParaRPr lang="en-US" sz="1000" dirty="0"/>
          </a:p>
        </p:txBody>
      </p:sp>
      <p:sp>
        <p:nvSpPr>
          <p:cNvPr id="3" name="Text 2"/>
          <p:cNvSpPr/>
          <p:nvPr>
            <p:ph idx="103" type="title" hasCustomPrompt="1"/>
          </p:nvPr>
        </p:nvSpPr>
        <p:spPr>
          <a:xfrm>
            <a:off x="548640" y="731520"/>
            <a:ext cx="2926080" cy="960120"/>
          </a:xfrm>
          <a:prstGeom prst="rect">
            <a:avLst/>
          </a:prstGeom>
          <a:noFill/>
          <a:ln/>
        </p:spPr>
        <p:txBody>
          <a:bodyPr wrap="square" lIns="0" tIns="0" rIns="0" bIns="0" rtlCol="0" anchor="t"/>
          <a:lstStyle/>
          <a:p>
            <a:pPr algn="l" indent="0" marL="0">
              <a:buNone/>
            </a:pPr>
            <a:r>
              <a:rPr lang="en-US" sz="2800" b="1" dirty="0">
                <a:solidFill>
                  <a:schemeClr val="bg1"/>
                </a:solidFill>
              </a:rPr>
              <a:t>OUR CALL</a:t>
            </a:r>
            <a:endParaRPr lang="en-US" sz="2800" dirty="0"/>
          </a:p>
        </p:txBody>
      </p:sp>
      <p:sp>
        <p:nvSpPr>
          <p:cNvPr id="4" name="Text 2"/>
          <p:cNvSpPr/>
          <p:nvPr>
            <p:ph idx="104" type="body" hasCustomPrompt="1"/>
          </p:nvPr>
        </p:nvSpPr>
        <p:spPr>
          <a:xfrm>
            <a:off x="548640" y="1783080"/>
            <a:ext cx="2926080" cy="457200"/>
          </a:xfrm>
          <a:prstGeom prst="rect">
            <a:avLst/>
          </a:prstGeom>
          <a:noFill/>
          <a:ln/>
        </p:spPr>
        <p:txBody>
          <a:bodyPr wrap="square" lIns="0" tIns="0" rIns="0" bIns="0" rtlCol="0" anchor="t"/>
          <a:lstStyle/>
          <a:p>
            <a:pPr algn="l" indent="0" marL="0">
              <a:buNone/>
            </a:pPr>
            <a:r>
              <a:rPr lang="en-US" sz="1400" dirty="0">
                <a:solidFill>
                  <a:schemeClr val="bg2"/>
                </a:solidFill>
              </a:rPr>
              <a:t>Range: our blended value to the analysts' mean target.</a:t>
            </a:r>
            <a:endParaRPr lang="en-US" sz="1400" dirty="0"/>
          </a:p>
        </p:txBody>
      </p:sp>
      <p:sp>
        <p:nvSpPr>
          <p:cNvPr id="5" name="Text 3"/>
          <p:cNvSpPr txBox="1"/>
          <p:nvPr/>
        </p:nvSpPr>
        <p:spPr>
          <a:xfrm>
            <a:off x="548640" y="251460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HINDUSTAN UNILEVER</a:t>
            </a:r>
            <a:endParaRPr lang="en-US" sz="1200" dirty="0"/>
          </a:p>
        </p:txBody>
      </p:sp>
      <p:sp>
        <p:nvSpPr>
          <p:cNvPr id="6" name="Text 4"/>
          <p:cNvSpPr txBox="1"/>
          <p:nvPr/>
        </p:nvSpPr>
        <p:spPr>
          <a:xfrm>
            <a:off x="548640" y="2788920"/>
            <a:ext cx="3017520" cy="548640"/>
          </a:xfrm>
          <a:prstGeom prst="rect">
            <a:avLst/>
          </a:prstGeom>
          <a:noFill/>
          <a:ln/>
        </p:spPr>
        <p:txBody>
          <a:bodyPr wrap="square" lIns="0" tIns="0" rIns="0" bIns="0" rtlCol="0" anchor="t"/>
          <a:lstStyle/>
          <a:p>
            <a:pPr indent="0" marL="0">
              <a:buNone/>
            </a:pPr>
            <a:r>
              <a:rPr lang="en-US" sz="3000" b="1" dirty="0">
                <a:solidFill>
                  <a:schemeClr val="accent2"/>
                </a:solidFill>
                <a:latin typeface="Century Gothic" pitchFamily="34" charset="0"/>
                <a:ea typeface="Century Gothic" pitchFamily="34" charset="-122"/>
                <a:cs typeface="Century Gothic" pitchFamily="34" charset="-120"/>
              </a:rPr>
              <a:t>BUY</a:t>
            </a:r>
            <a:endParaRPr lang="en-US" sz="3000" dirty="0"/>
          </a:p>
        </p:txBody>
      </p:sp>
      <p:sp>
        <p:nvSpPr>
          <p:cNvPr id="7" name="Text 5"/>
          <p:cNvSpPr txBox="1"/>
          <p:nvPr/>
        </p:nvSpPr>
        <p:spPr>
          <a:xfrm>
            <a:off x="548640" y="3319272"/>
            <a:ext cx="3017520" cy="274320"/>
          </a:xfrm>
          <a:prstGeom prst="rect">
            <a:avLst/>
          </a:prstGeom>
          <a:noFill/>
          <a:ln/>
        </p:spPr>
        <p:txBody>
          <a:bodyPr wrap="square" lIns="0" tIns="0" rIns="0" bIns="0" rtlCol="0" anchor="t"/>
          <a:lstStyle/>
          <a:p>
            <a:pPr indent="0" marL="0">
              <a:buNone/>
            </a:pPr>
            <a:r>
              <a:rPr lang="en-US" sz="1200" dirty="0">
                <a:solidFill>
                  <a:schemeClr val="accent6"/>
                </a:solidFill>
              </a:rPr>
              <a:t>₹1,592–2,396 · price ₹1,862</a:t>
            </a:r>
            <a:endParaRPr lang="en-US" sz="1200" dirty="0"/>
          </a:p>
        </p:txBody>
      </p:sp>
      <p:sp>
        <p:nvSpPr>
          <p:cNvPr id="8" name="Text 6"/>
          <p:cNvSpPr txBox="1"/>
          <p:nvPr/>
        </p:nvSpPr>
        <p:spPr>
          <a:xfrm>
            <a:off x="548640" y="3721608"/>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SUN PHARMA</a:t>
            </a:r>
            <a:endParaRPr lang="en-US" sz="1200" dirty="0"/>
          </a:p>
        </p:txBody>
      </p:sp>
      <p:sp>
        <p:nvSpPr>
          <p:cNvPr id="9" name="Text 7"/>
          <p:cNvSpPr txBox="1"/>
          <p:nvPr/>
        </p:nvSpPr>
        <p:spPr>
          <a:xfrm>
            <a:off x="548640" y="3995928"/>
            <a:ext cx="3017520" cy="548640"/>
          </a:xfrm>
          <a:prstGeom prst="rect">
            <a:avLst/>
          </a:prstGeom>
          <a:noFill/>
          <a:ln/>
        </p:spPr>
        <p:txBody>
          <a:bodyPr wrap="square" lIns="0" tIns="0" rIns="0" bIns="0" rtlCol="0" anchor="t"/>
          <a:lstStyle/>
          <a:p>
            <a:pPr indent="0" marL="0">
              <a:buNone/>
            </a:pPr>
            <a:r>
              <a:rPr lang="en-US" sz="3000" b="1" dirty="0">
                <a:solidFill>
                  <a:schemeClr val="bg1"/>
                </a:solidFill>
                <a:latin typeface="Century Gothic" pitchFamily="34" charset="0"/>
                <a:ea typeface="Century Gothic" pitchFamily="34" charset="-122"/>
                <a:cs typeface="Century Gothic" pitchFamily="34" charset="-120"/>
              </a:rPr>
              <a:t>HOLD</a:t>
            </a:r>
            <a:endParaRPr lang="en-US" sz="3000" dirty="0"/>
          </a:p>
        </p:txBody>
      </p:sp>
      <p:sp>
        <p:nvSpPr>
          <p:cNvPr id="10" name="Text 8"/>
          <p:cNvSpPr txBox="1"/>
          <p:nvPr/>
        </p:nvSpPr>
        <p:spPr>
          <a:xfrm>
            <a:off x="548640" y="4526280"/>
            <a:ext cx="3017520" cy="274320"/>
          </a:xfrm>
          <a:prstGeom prst="rect">
            <a:avLst/>
          </a:prstGeom>
          <a:noFill/>
          <a:ln/>
        </p:spPr>
        <p:txBody>
          <a:bodyPr wrap="square" lIns="0" tIns="0" rIns="0" bIns="0" rtlCol="0" anchor="t"/>
          <a:lstStyle/>
          <a:p>
            <a:pPr indent="0" marL="0">
              <a:buNone/>
            </a:pPr>
            <a:r>
              <a:rPr lang="en-US" sz="1200" dirty="0">
                <a:solidFill>
                  <a:schemeClr val="accent6"/>
                </a:solidFill>
              </a:rPr>
              <a:t>₹1,225–2,174 · price ₹1,760</a:t>
            </a:r>
            <a:endParaRPr lang="en-US" sz="1200" dirty="0"/>
          </a:p>
        </p:txBody>
      </p:sp>
      <p:sp>
        <p:nvSpPr>
          <p:cNvPr id="11" name="Text 9"/>
          <p:cNvSpPr txBox="1"/>
          <p:nvPr/>
        </p:nvSpPr>
        <p:spPr>
          <a:xfrm>
            <a:off x="548640" y="4928616"/>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ICICI BANK</a:t>
            </a:r>
            <a:endParaRPr lang="en-US" sz="1200" dirty="0"/>
          </a:p>
        </p:txBody>
      </p:sp>
      <p:sp>
        <p:nvSpPr>
          <p:cNvPr id="12" name="Text 10"/>
          <p:cNvSpPr txBox="1"/>
          <p:nvPr/>
        </p:nvSpPr>
        <p:spPr>
          <a:xfrm>
            <a:off x="548640" y="5202936"/>
            <a:ext cx="3017520" cy="548640"/>
          </a:xfrm>
          <a:prstGeom prst="rect">
            <a:avLst/>
          </a:prstGeom>
          <a:noFill/>
          <a:ln/>
        </p:spPr>
        <p:txBody>
          <a:bodyPr wrap="square" lIns="0" tIns="0" rIns="0" bIns="0" rtlCol="0" anchor="t"/>
          <a:lstStyle/>
          <a:p>
            <a:pPr indent="0" marL="0">
              <a:buNone/>
            </a:pPr>
            <a:r>
              <a:rPr lang="en-US" sz="3000" b="1" dirty="0">
                <a:solidFill>
                  <a:schemeClr val="bg1"/>
                </a:solidFill>
                <a:latin typeface="Century Gothic" pitchFamily="34" charset="0"/>
                <a:ea typeface="Century Gothic" pitchFamily="34" charset="-122"/>
                <a:cs typeface="Century Gothic" pitchFamily="34" charset="-120"/>
              </a:rPr>
              <a:t>HOLD</a:t>
            </a:r>
            <a:endParaRPr lang="en-US" sz="3000" dirty="0"/>
          </a:p>
        </p:txBody>
      </p:sp>
      <p:sp>
        <p:nvSpPr>
          <p:cNvPr id="13" name="Text 11"/>
          <p:cNvSpPr txBox="1"/>
          <p:nvPr/>
        </p:nvSpPr>
        <p:spPr>
          <a:xfrm>
            <a:off x="548640" y="5733288"/>
            <a:ext cx="3017520" cy="274320"/>
          </a:xfrm>
          <a:prstGeom prst="rect">
            <a:avLst/>
          </a:prstGeom>
          <a:noFill/>
          <a:ln/>
        </p:spPr>
        <p:txBody>
          <a:bodyPr wrap="square" lIns="0" tIns="0" rIns="0" bIns="0" rtlCol="0" anchor="t"/>
          <a:lstStyle/>
          <a:p>
            <a:pPr indent="0" marL="0">
              <a:buNone/>
            </a:pPr>
            <a:r>
              <a:rPr lang="en-US" sz="1200" dirty="0">
                <a:solidFill>
                  <a:schemeClr val="accent6"/>
                </a:solidFill>
              </a:rPr>
              <a:t>₹857–1,747 · price ₹1,351</a:t>
            </a:r>
            <a:endParaRPr lang="en-US" sz="1200" dirty="0"/>
          </a:p>
        </p:txBody>
      </p:sp>
      <p:sp>
        <p:nvSpPr>
          <p:cNvPr id="14" name="Text 12"/>
          <p:cNvSpPr txBox="1"/>
          <p:nvPr/>
        </p:nvSpPr>
        <p:spPr>
          <a:xfrm>
            <a:off x="4526280" y="868680"/>
            <a:ext cx="7114032" cy="868680"/>
          </a:xfrm>
          <a:prstGeom prst="rect">
            <a:avLst/>
          </a:prstGeom>
          <a:noFill/>
          <a:ln/>
        </p:spPr>
        <p:txBody>
          <a:bodyPr wrap="square" lIns="0" tIns="0" rIns="0" bIns="0" rtlCol="0" anchor="t"/>
          <a:lstStyle/>
          <a:p>
            <a:pPr indent="0" marL="0">
              <a:buNone/>
            </a:pPr>
            <a:r>
              <a:rPr lang="en-US" sz="2800" b="1" dirty="0">
                <a:solidFill>
                  <a:schemeClr val="accent1"/>
                </a:solidFill>
                <a:latin typeface="Century Gothic" pitchFamily="34" charset="0"/>
                <a:ea typeface="Century Gothic" pitchFamily="34" charset="-122"/>
                <a:cs typeface="Century Gothic" pitchFamily="34" charset="-120"/>
              </a:rPr>
              <a:t>BUY THE PORTFOLIO SLOWLY, THROUGH THE SIP</a:t>
            </a:r>
            <a:endParaRPr lang="en-US" sz="2800" dirty="0"/>
          </a:p>
        </p:txBody>
      </p:sp>
      <p:sp>
        <p:nvSpPr>
          <p:cNvPr id="15" name="Text 13"/>
          <p:cNvSpPr txBox="1"/>
          <p:nvPr/>
        </p:nvSpPr>
        <p:spPr>
          <a:xfrm>
            <a:off x="4526280" y="1783080"/>
            <a:ext cx="7114032" cy="365760"/>
          </a:xfrm>
          <a:prstGeom prst="rect">
            <a:avLst/>
          </a:prstGeom>
          <a:noFill/>
          <a:ln/>
        </p:spPr>
        <p:txBody>
          <a:bodyPr wrap="square" lIns="0" tIns="0" rIns="0" bIns="0" rtlCol="0" anchor="t"/>
          <a:lstStyle/>
          <a:p>
            <a:pPr indent="0" marL="0">
              <a:buNone/>
            </a:pPr>
            <a:r>
              <a:rPr lang="en-US" sz="1400" dirty="0">
                <a:solidFill>
                  <a:schemeClr val="tx1"/>
                </a:solidFill>
              </a:rPr>
              <a:t>Good businesses at full prices: own them, but let monthly buying average the entry price.</a:t>
            </a:r>
            <a:endParaRPr lang="en-US" sz="1400" dirty="0"/>
          </a:p>
        </p:txBody>
      </p:sp>
      <p:sp>
        <p:nvSpPr>
          <p:cNvPr id="16" name="Text 14"/>
          <p:cNvSpPr txBox="1"/>
          <p:nvPr/>
        </p:nvSpPr>
        <p:spPr>
          <a:xfrm>
            <a:off x="4526280" y="2423160"/>
            <a:ext cx="7114032" cy="274320"/>
          </a:xfrm>
          <a:prstGeom prst="rect">
            <a:avLst/>
          </a:prstGeom>
          <a:noFill/>
          <a:ln/>
        </p:spPr>
        <p:txBody>
          <a:bodyPr wrap="square" lIns="0" tIns="0" rIns="0" bIns="0" rtlCol="0" anchor="t"/>
          <a:lstStyle/>
          <a:p>
            <a:pPr indent="0" marL="0">
              <a:buNone/>
            </a:pPr>
            <a:r>
              <a:rPr lang="en-US" sz="1000" b="1" spc="150" kern="0" dirty="0">
                <a:solidFill>
                  <a:schemeClr val="accent1"/>
                </a:solidFill>
              </a:rPr>
              <a:t>RISKS WE ARE WATCHING</a:t>
            </a:r>
            <a:endParaRPr lang="en-US" sz="1000" dirty="0"/>
          </a:p>
        </p:txBody>
      </p:sp>
      <p:sp>
        <p:nvSpPr>
          <p:cNvPr id="17" name="Text 15"/>
          <p:cNvSpPr txBox="1"/>
          <p:nvPr/>
        </p:nvSpPr>
        <p:spPr>
          <a:xfrm>
            <a:off x="4526280" y="2807208"/>
            <a:ext cx="411480" cy="274320"/>
          </a:xfrm>
          <a:prstGeom prst="rect">
            <a:avLst/>
          </a:prstGeom>
          <a:noFill/>
          <a:ln/>
        </p:spPr>
        <p:txBody>
          <a:bodyPr wrap="square" lIns="0" tIns="0" rIns="0" bIns="0" rtlCol="0" anchor="t"/>
          <a:lstStyle/>
          <a:p>
            <a:pPr indent="0" marL="0">
              <a:buNone/>
            </a:pPr>
            <a:r>
              <a:rPr lang="en-US" sz="1100" b="1" dirty="0">
                <a:solidFill>
                  <a:schemeClr val="accent1"/>
                </a:solidFill>
              </a:rPr>
              <a:t>01</a:t>
            </a:r>
            <a:endParaRPr lang="en-US" sz="1100" dirty="0"/>
          </a:p>
        </p:txBody>
      </p:sp>
      <p:sp>
        <p:nvSpPr>
          <p:cNvPr id="18" name="Text 16"/>
          <p:cNvSpPr txBox="1"/>
          <p:nvPr/>
        </p:nvSpPr>
        <p:spPr>
          <a:xfrm>
            <a:off x="4983480" y="2788920"/>
            <a:ext cx="6656832" cy="457200"/>
          </a:xfrm>
          <a:prstGeom prst="rect">
            <a:avLst/>
          </a:prstGeom>
          <a:noFill/>
          <a:ln/>
        </p:spPr>
        <p:txBody>
          <a:bodyPr wrap="square" lIns="0" tIns="0" rIns="0" bIns="0" rtlCol="0" anchor="t"/>
          <a:lstStyle/>
          <a:p>
            <a:pPr indent="0" marL="0">
              <a:buNone/>
            </a:pPr>
            <a:r>
              <a:rPr lang="en-US" sz="1400" b="1" dirty="0">
                <a:solidFill>
                  <a:schemeClr val="tx1"/>
                </a:solidFill>
              </a:rPr>
              <a:t>CONCENTRATION  </a:t>
            </a:r>
            <a:pPr indent="0" marL="0">
              <a:buNone/>
            </a:pPr>
            <a:r>
              <a:rPr lang="en-US" sz="1400" dirty="0">
                <a:solidFill>
                  <a:schemeClr val="tx1"/>
                </a:solidFill>
              </a:rPr>
              <a:t>ICICI is 50% of the weight but 57% of the risk.</a:t>
            </a:r>
            <a:endParaRPr lang="en-US" sz="1400" dirty="0"/>
          </a:p>
        </p:txBody>
      </p:sp>
      <p:sp>
        <p:nvSpPr>
          <p:cNvPr id="19" name="Text 17"/>
          <p:cNvSpPr txBox="1"/>
          <p:nvPr/>
        </p:nvSpPr>
        <p:spPr>
          <a:xfrm>
            <a:off x="4526280" y="3374136"/>
            <a:ext cx="411480" cy="274320"/>
          </a:xfrm>
          <a:prstGeom prst="rect">
            <a:avLst/>
          </a:prstGeom>
          <a:noFill/>
          <a:ln/>
        </p:spPr>
        <p:txBody>
          <a:bodyPr wrap="square" lIns="0" tIns="0" rIns="0" bIns="0" rtlCol="0" anchor="t"/>
          <a:lstStyle/>
          <a:p>
            <a:pPr indent="0" marL="0">
              <a:buNone/>
            </a:pPr>
            <a:r>
              <a:rPr lang="en-US" sz="1100" b="1" dirty="0">
                <a:solidFill>
                  <a:schemeClr val="accent1"/>
                </a:solidFill>
              </a:rPr>
              <a:t>02</a:t>
            </a:r>
            <a:endParaRPr lang="en-US" sz="1100" dirty="0"/>
          </a:p>
        </p:txBody>
      </p:sp>
      <p:sp>
        <p:nvSpPr>
          <p:cNvPr id="20" name="Text 18"/>
          <p:cNvSpPr txBox="1"/>
          <p:nvPr/>
        </p:nvSpPr>
        <p:spPr>
          <a:xfrm>
            <a:off x="4983480" y="3355848"/>
            <a:ext cx="6656832" cy="457200"/>
          </a:xfrm>
          <a:prstGeom prst="rect">
            <a:avLst/>
          </a:prstGeom>
          <a:noFill/>
          <a:ln/>
        </p:spPr>
        <p:txBody>
          <a:bodyPr wrap="square" lIns="0" tIns="0" rIns="0" bIns="0" rtlCol="0" anchor="t"/>
          <a:lstStyle/>
          <a:p>
            <a:pPr indent="0" marL="0">
              <a:buNone/>
            </a:pPr>
            <a:r>
              <a:rPr lang="en-US" sz="1400" b="1" dirty="0">
                <a:solidFill>
                  <a:schemeClr val="tx1"/>
                </a:solidFill>
              </a:rPr>
              <a:t>VALUATION  </a:t>
            </a:r>
            <a:pPr indent="0" marL="0">
              <a:buNone/>
            </a:pPr>
            <a:r>
              <a:rPr lang="en-US" sz="1400" dirty="0">
                <a:solidFill>
                  <a:schemeClr val="tx1"/>
                </a:solidFill>
              </a:rPr>
              <a:t>Today's prices assume 7.4% to 13.9% growth a year, for ever.</a:t>
            </a:r>
            <a:endParaRPr lang="en-US" sz="1400" dirty="0"/>
          </a:p>
        </p:txBody>
      </p:sp>
      <p:sp>
        <p:nvSpPr>
          <p:cNvPr id="21" name="Text 19"/>
          <p:cNvSpPr txBox="1"/>
          <p:nvPr/>
        </p:nvSpPr>
        <p:spPr>
          <a:xfrm>
            <a:off x="4526280" y="3941064"/>
            <a:ext cx="411480" cy="274320"/>
          </a:xfrm>
          <a:prstGeom prst="rect">
            <a:avLst/>
          </a:prstGeom>
          <a:noFill/>
          <a:ln/>
        </p:spPr>
        <p:txBody>
          <a:bodyPr wrap="square" lIns="0" tIns="0" rIns="0" bIns="0" rtlCol="0" anchor="t"/>
          <a:lstStyle/>
          <a:p>
            <a:pPr indent="0" marL="0">
              <a:buNone/>
            </a:pPr>
            <a:r>
              <a:rPr lang="en-US" sz="1100" b="1" dirty="0">
                <a:solidFill>
                  <a:schemeClr val="accent1"/>
                </a:solidFill>
              </a:rPr>
              <a:t>03</a:t>
            </a:r>
            <a:endParaRPr lang="en-US" sz="1100" dirty="0"/>
          </a:p>
        </p:txBody>
      </p:sp>
      <p:sp>
        <p:nvSpPr>
          <p:cNvPr id="22" name="Text 20"/>
          <p:cNvSpPr txBox="1"/>
          <p:nvPr/>
        </p:nvSpPr>
        <p:spPr>
          <a:xfrm>
            <a:off x="4983480" y="3922776"/>
            <a:ext cx="6656832" cy="457200"/>
          </a:xfrm>
          <a:prstGeom prst="rect">
            <a:avLst/>
          </a:prstGeom>
          <a:noFill/>
          <a:ln/>
        </p:spPr>
        <p:txBody>
          <a:bodyPr wrap="square" lIns="0" tIns="0" rIns="0" bIns="0" rtlCol="0" anchor="t"/>
          <a:lstStyle/>
          <a:p>
            <a:pPr indent="0" marL="0">
              <a:buNone/>
            </a:pPr>
            <a:r>
              <a:rPr lang="en-US" sz="1400" b="1" dirty="0">
                <a:solidFill>
                  <a:schemeClr val="tx1"/>
                </a:solidFill>
              </a:rPr>
              <a:t>REGULATION  </a:t>
            </a:r>
            <a:pPr indent="0" marL="0">
              <a:buNone/>
            </a:pPr>
            <a:r>
              <a:rPr lang="en-US" sz="1400" dirty="0">
                <a:solidFill>
                  <a:schemeClr val="tx1"/>
                </a:solidFill>
              </a:rPr>
              <a:t>Proposed caps on trade margins for anti-cancer drugs (Sun Pharma).</a:t>
            </a:r>
            <a:endParaRPr lang="en-US" sz="1400" dirty="0"/>
          </a:p>
        </p:txBody>
      </p:sp>
      <p:sp>
        <p:nvSpPr>
          <p:cNvPr id="23" name="Shape 21"/>
          <p:cNvSpPr/>
          <p:nvPr/>
        </p:nvSpPr>
        <p:spPr>
          <a:xfrm>
            <a:off x="4526280" y="4572000"/>
            <a:ext cx="7114032" cy="0"/>
          </a:xfrm>
          <a:prstGeom prst="line">
            <a:avLst/>
          </a:prstGeom>
          <a:noFill/>
          <a:ln w="9525">
            <a:solidFill>
              <a:schemeClr val="accent5"/>
            </a:solidFill>
            <a:prstDash val="solid"/>
          </a:ln>
        </p:spPr>
      </p:sp>
      <p:sp>
        <p:nvSpPr>
          <p:cNvPr id="24" name="Text 22"/>
          <p:cNvSpPr txBox="1"/>
          <p:nvPr/>
        </p:nvSpPr>
        <p:spPr>
          <a:xfrm>
            <a:off x="4526280" y="4709160"/>
            <a:ext cx="7114032" cy="274320"/>
          </a:xfrm>
          <a:prstGeom prst="rect">
            <a:avLst/>
          </a:prstGeom>
          <a:noFill/>
          <a:ln/>
        </p:spPr>
        <p:txBody>
          <a:bodyPr wrap="square" lIns="0" tIns="0" rIns="0" bIns="0" rtlCol="0" anchor="t"/>
          <a:lstStyle/>
          <a:p>
            <a:pPr indent="0" marL="0">
              <a:buNone/>
            </a:pPr>
            <a:r>
              <a:rPr lang="en-US" sz="1000" b="1" spc="150" kern="0" dirty="0">
                <a:solidFill>
                  <a:schemeClr val="accent1"/>
                </a:solidFill>
              </a:rPr>
              <a:t>LIMITATIONS</a:t>
            </a:r>
            <a:endParaRPr lang="en-US" sz="1000" dirty="0"/>
          </a:p>
        </p:txBody>
      </p:sp>
      <p:sp>
        <p:nvSpPr>
          <p:cNvPr id="25" name="Text 23"/>
          <p:cNvSpPr txBox="1"/>
          <p:nvPr/>
        </p:nvSpPr>
        <p:spPr>
          <a:xfrm>
            <a:off x="4526280" y="5029200"/>
            <a:ext cx="7114032" cy="685800"/>
          </a:xfrm>
          <a:prstGeom prst="rect">
            <a:avLst/>
          </a:prstGeom>
          <a:noFill/>
          <a:ln/>
        </p:spPr>
        <p:txBody>
          <a:bodyPr wrap="square" lIns="0" tIns="0" rIns="0" bIns="0" rtlCol="0" anchor="t"/>
          <a:lstStyle/>
          <a:p>
            <a:pPr indent="0" marL="0">
              <a:buNone/>
            </a:pPr>
            <a:r>
              <a:rPr lang="en-US" sz="1200" dirty="0">
                <a:solidFill>
                  <a:schemeClr val="tx2"/>
                </a:solidFill>
              </a:rPr>
              <a:t>One risk-free rate for 2016–26 · Nifty total return estimated (+1.22%/yr dividends) · Sun Pharma chosen after its run · pre-tax, no fees · coursework, not investment advice.</a:t>
            </a:r>
            <a:endParaRPr lang="en-US" sz="12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APPENDIX A1 - METHODS</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accent1"/>
                </a:solidFill>
              </a:rPr>
              <a:t>METHODS AND ASSUMPTIONS</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tx1"/>
                </a:solidFill>
              </a:rPr>
              <a:t>Every number in this deck is computed from these choices; the code is in our GitHub repository.</a:t>
            </a:r>
            <a:endParaRPr lang="en-US" sz="1400" dirty="0"/>
          </a:p>
        </p:txBody>
      </p:sp>
      <p:graphicFrame>
        <p:nvGraphicFramePr>
          <p:cNvPr id="11" name="methods-table"/>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2011680"/>
                <a:gridCol w="6153912"/>
                <a:gridCol w="2926080"/>
              </a:tblGrid>
              <a:tr h="329184">
                <a:tc>
                  <a:txBody>
                    <a:bodyPr/>
                    <a:lstStyle/>
                    <a:p>
                      <a:pPr indent="0" marL="0">
                        <a:buNone/>
                      </a:pPr>
                      <a:r>
                        <a:rPr lang="en-US" sz="1200" b="1" dirty="0">
                          <a:solidFill>
                            <a:schemeClr val="bg1"/>
                          </a:solidFill>
                        </a:rPr>
                        <a:t>Item</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Choice</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Source</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r>
              <a:tr h="329184">
                <a:tc>
                  <a:txBody>
                    <a:bodyPr/>
                    <a:lstStyle/>
                    <a:p>
                      <a:pPr indent="0" marL="0">
                        <a:buNone/>
                      </a:pPr>
                      <a:r>
                        <a:rPr lang="en-US" sz="1200" b="1" dirty="0">
                          <a:solidFill>
                            <a:schemeClr val="tx1"/>
                          </a:solidFill>
                        </a:rPr>
                        <a:t>Prices</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Daily adjusted closes from 2016; HUL demerger (Dec 2025) adjusted</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Yahoo Finance; NSE special pre-open</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Risk-free rate</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5.52%, 91-day T-bill</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RBI, 1 Oct 2026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Equity risk premium</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7.08% (India)</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Damodaran, 5 Jan 2026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Benchmark</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Nifty 50 price index + 1.22%/yr estimated dividends</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Nifty BeES vs index gap, 2016–2026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Valuation</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Two-stage DDM (HUL); two-stage residual income (Sun Pharma, ICICI); peer multiples; r × g grids</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workbook/valuation.xlsx</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Optimisation</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Maximum Sharpe ratio, 10–60% per stock, CAPM expected returns (rf + β × ERP)</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scipy SLSQP</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Complete portfolio</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y* = (E[rP] − rf) / (Aσ²), capped at 100%; A = 2, 4, 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BKM Ch 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Monte Carlo</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10,000 paths, 1 year; normal (Cholesky), 10-day block bootstrap, EWMA λ = 0.94</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numpy, seed 42</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SIP</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₹10,000/month, +10%/yr, 15 years; 50% Nifty core; glide to 40% equity</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Pre-tax, no fees</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AI</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FinBERT sentiment; Claude for extraction, aspects and headline tagging</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docs/ai_prompts.md</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APPENDIX A2 - RISK</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accent1"/>
                </a:solidFill>
              </a:rPr>
              <a:t>WHERE THE RISK SITS</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tx1"/>
                </a:solidFill>
              </a:rPr>
              <a:t>Correlations of daily returns, and what happened to the portfolio in four real sell-offs.</a:t>
            </a:r>
            <a:endParaRPr lang="en-US" sz="1400" dirty="0"/>
          </a:p>
        </p:txBody>
      </p:sp>
      <p:sp>
        <p:nvSpPr>
          <p:cNvPr id="5" name="heatmap-card"/>
          <p:cNvSpPr/>
          <p:nvPr/>
        </p:nvSpPr>
        <p:spPr>
          <a:xfrm>
            <a:off x="548640" y="2240280"/>
            <a:ext cx="6766560" cy="2971800"/>
          </a:xfrm>
          <a:prstGeom prst="rect">
            <a:avLst/>
          </a:prstGeom>
          <a:solidFill>
            <a:schemeClr val="bg1"/>
          </a:solidFill>
          <a:ln w="9525">
            <a:solidFill>
              <a:schemeClr val="accent6"/>
            </a:solidFill>
            <a:prstDash val="solid"/>
          </a:ln>
        </p:spPr>
      </p:sp>
      <p:pic>
        <p:nvPicPr>
          <p:cNvPr id="6" name="corr-heatmap" descr="C:\Users\abhay.ABHAYSLAPTOP\Desktop\year 3\sem 5\Security_Analysis\sa-portfolio\data\submission\figures\corr_heatmap.png">    </p:cNvPr>
          <p:cNvPicPr>
            <a:picLocks noChangeAspect="1"/>
          </p:cNvPicPr>
          <p:nvPr/>
        </p:nvPicPr>
        <p:blipFill>
          <a:blip r:embed="rId1"/>
          <a:stretch>
            <a:fillRect/>
          </a:stretch>
        </p:blipFill>
        <p:spPr>
          <a:xfrm>
            <a:off x="640080" y="2304288"/>
            <a:ext cx="6583680" cy="2761488"/>
          </a:xfrm>
          <a:prstGeom prst="rect">
            <a:avLst/>
          </a:prstGeom>
        </p:spPr>
      </p:pic>
      <p:sp>
        <p:nvSpPr>
          <p:cNvPr id="7" name="Text 4"/>
          <p:cNvSpPr txBox="1"/>
          <p:nvPr/>
        </p:nvSpPr>
        <p:spPr>
          <a:xfrm>
            <a:off x="548640" y="539496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32%</a:t>
            </a:r>
            <a:endParaRPr lang="en-US" sz="2600" dirty="0"/>
          </a:p>
        </p:txBody>
      </p:sp>
      <p:sp>
        <p:nvSpPr>
          <p:cNvPr id="8" name="Text 5"/>
          <p:cNvSpPr txBox="1"/>
          <p:nvPr/>
        </p:nvSpPr>
        <p:spPr>
          <a:xfrm>
            <a:off x="548640" y="5870448"/>
            <a:ext cx="2194560" cy="457200"/>
          </a:xfrm>
          <a:prstGeom prst="rect">
            <a:avLst/>
          </a:prstGeom>
          <a:noFill/>
          <a:ln/>
        </p:spPr>
        <p:txBody>
          <a:bodyPr wrap="square" lIns="0" tIns="0" rIns="0" bIns="0" rtlCol="0" anchor="t"/>
          <a:lstStyle/>
          <a:p>
            <a:pPr indent="0" marL="0">
              <a:buNone/>
            </a:pPr>
            <a:r>
              <a:rPr lang="en-US" sz="1000" b="1" dirty="0">
                <a:solidFill>
                  <a:schemeClr val="tx1"/>
                </a:solidFill>
              </a:rPr>
              <a:t>HUL</a:t>
            </a:r>
            <a:endParaRPr lang="en-US" sz="1000" dirty="0"/>
          </a:p>
          <a:p>
            <a:pPr indent="0" marL="0">
              <a:buNone/>
            </a:pPr>
            <a:r>
              <a:rPr lang="en-US" sz="1000" dirty="0">
                <a:solidFill>
                  <a:schemeClr val="tx2"/>
                </a:solidFill>
              </a:rPr>
              <a:t>SHARE OF PORTFOLIO RISK</a:t>
            </a:r>
            <a:endParaRPr lang="en-US" sz="1000" dirty="0"/>
          </a:p>
        </p:txBody>
      </p:sp>
      <p:sp>
        <p:nvSpPr>
          <p:cNvPr id="9" name="Text 6"/>
          <p:cNvSpPr txBox="1"/>
          <p:nvPr/>
        </p:nvSpPr>
        <p:spPr>
          <a:xfrm>
            <a:off x="2834640" y="539496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11%</a:t>
            </a:r>
            <a:endParaRPr lang="en-US" sz="2600" dirty="0"/>
          </a:p>
        </p:txBody>
      </p:sp>
      <p:sp>
        <p:nvSpPr>
          <p:cNvPr id="10" name="Text 7"/>
          <p:cNvSpPr txBox="1"/>
          <p:nvPr/>
        </p:nvSpPr>
        <p:spPr>
          <a:xfrm>
            <a:off x="2834640" y="5870448"/>
            <a:ext cx="2194560" cy="457200"/>
          </a:xfrm>
          <a:prstGeom prst="rect">
            <a:avLst/>
          </a:prstGeom>
          <a:noFill/>
          <a:ln/>
        </p:spPr>
        <p:txBody>
          <a:bodyPr wrap="square" lIns="0" tIns="0" rIns="0" bIns="0" rtlCol="0" anchor="t"/>
          <a:lstStyle/>
          <a:p>
            <a:pPr indent="0" marL="0">
              <a:buNone/>
            </a:pPr>
            <a:r>
              <a:rPr lang="en-US" sz="1000" b="1" dirty="0">
                <a:solidFill>
                  <a:schemeClr val="tx1"/>
                </a:solidFill>
              </a:rPr>
              <a:t>SUN PHARMA</a:t>
            </a:r>
            <a:endParaRPr lang="en-US" sz="1000" dirty="0"/>
          </a:p>
          <a:p>
            <a:pPr indent="0" marL="0">
              <a:buNone/>
            </a:pPr>
            <a:r>
              <a:rPr lang="en-US" sz="1000" dirty="0">
                <a:solidFill>
                  <a:schemeClr val="tx2"/>
                </a:solidFill>
              </a:rPr>
              <a:t>SHARE OF PORTFOLIO RISK</a:t>
            </a:r>
            <a:endParaRPr lang="en-US" sz="1000" dirty="0"/>
          </a:p>
        </p:txBody>
      </p:sp>
      <p:sp>
        <p:nvSpPr>
          <p:cNvPr id="11" name="Text 8"/>
          <p:cNvSpPr txBox="1"/>
          <p:nvPr/>
        </p:nvSpPr>
        <p:spPr>
          <a:xfrm>
            <a:off x="5120640" y="539496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57%</a:t>
            </a:r>
            <a:endParaRPr lang="en-US" sz="2600" dirty="0"/>
          </a:p>
        </p:txBody>
      </p:sp>
      <p:sp>
        <p:nvSpPr>
          <p:cNvPr id="12" name="Text 9"/>
          <p:cNvSpPr txBox="1"/>
          <p:nvPr/>
        </p:nvSpPr>
        <p:spPr>
          <a:xfrm>
            <a:off x="5120640" y="5870448"/>
            <a:ext cx="2194560" cy="457200"/>
          </a:xfrm>
          <a:prstGeom prst="rect">
            <a:avLst/>
          </a:prstGeom>
          <a:noFill/>
          <a:ln/>
        </p:spPr>
        <p:txBody>
          <a:bodyPr wrap="square" lIns="0" tIns="0" rIns="0" bIns="0" rtlCol="0" anchor="t"/>
          <a:lstStyle/>
          <a:p>
            <a:pPr indent="0" marL="0">
              <a:buNone/>
            </a:pPr>
            <a:r>
              <a:rPr lang="en-US" sz="1000" b="1" dirty="0">
                <a:solidFill>
                  <a:schemeClr val="tx1"/>
                </a:solidFill>
              </a:rPr>
              <a:t>ICICI BANK</a:t>
            </a:r>
            <a:endParaRPr lang="en-US" sz="1000" dirty="0"/>
          </a:p>
          <a:p>
            <a:pPr indent="0" marL="0">
              <a:buNone/>
            </a:pPr>
            <a:r>
              <a:rPr lang="en-US" sz="1000" dirty="0">
                <a:solidFill>
                  <a:schemeClr val="tx2"/>
                </a:solidFill>
              </a:rPr>
              <a:t>SHARE OF PORTFOLIO RISK</a:t>
            </a:r>
            <a:endParaRPr lang="en-US" sz="1000" dirty="0"/>
          </a:p>
        </p:txBody>
      </p:sp>
      <p:graphicFrame>
        <p:nvGraphicFramePr>
          <p:cNvPr id="12" name="stress-table"/>
          <p:cNvGraphicFramePr>
            <a:graphicFrameLocks noGrp="1"/>
          </p:cNvGraphicFramePr>
          <p:nvPr>
            <p:extLst>
              <p:ext uri="{D42A27DB-BD31-4B8C-83A1-F6EECF244321}">
                <p14:modId xmlns:p14="http://schemas.microsoft.com/office/powerpoint/2010/main" val="1579011935"/>
              </p:ext>
            </p:extLst>
          </p:nvPr>
        </p:nvGraphicFramePr>
        <p:xfrm>
          <a:off x="7589520" y="2240280"/>
          <a:ext cx="4050792" cy="914400"/>
        </p:xfrm>
        <a:graphic>
          <a:graphicData uri="http://schemas.openxmlformats.org/drawingml/2006/table">
            <a:tbl>
              <a:tblPr/>
              <a:tblGrid>
                <a:gridCol w="2221992"/>
                <a:gridCol w="914400"/>
                <a:gridCol w="914400"/>
              </a:tblGrid>
              <a:tr h="566928">
                <a:tc>
                  <a:txBody>
                    <a:bodyPr/>
                    <a:lstStyle/>
                    <a:p>
                      <a:pPr indent="0" marL="0">
                        <a:buNone/>
                      </a:pPr>
                      <a:r>
                        <a:rPr lang="en-US" sz="1200" b="1" dirty="0">
                          <a:solidFill>
                            <a:schemeClr val="bg1"/>
                          </a:solidFill>
                        </a:rPr>
                        <a:t>Episode</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Our P</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Nifty 50</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r>
              <a:tr h="566928">
                <a:tc>
                  <a:txBody>
                    <a:bodyPr/>
                    <a:lstStyle/>
                    <a:p>
                      <a:pPr algn="l" indent="0" marL="0">
                        <a:buNone/>
                      </a:pPr>
                      <a:r>
                        <a:rPr lang="en-US" sz="1200" dirty="0">
                          <a:solidFill>
                            <a:schemeClr val="tx1"/>
                          </a:solidFill>
                        </a:rPr>
                        <a:t>COVID crash (Feb-Mar 2020)</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b="1" dirty="0">
                          <a:solidFill>
                            <a:schemeClr val="tx1"/>
                          </a:solidFill>
                        </a:rPr>
                        <a:t>−34.6%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dirty="0">
                          <a:solidFill>
                            <a:schemeClr val="tx1"/>
                          </a:solidFill>
                        </a:rPr>
                        <a:t>−37.2%</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566928">
                <a:tc>
                  <a:txBody>
                    <a:bodyPr/>
                    <a:lstStyle/>
                    <a:p>
                      <a:pPr algn="l" indent="0" marL="0">
                        <a:buNone/>
                      </a:pPr>
                      <a:r>
                        <a:rPr lang="en-US" sz="1200" dirty="0">
                          <a:solidFill>
                            <a:schemeClr val="tx1"/>
                          </a:solidFill>
                        </a:rPr>
                        <a:t>Rate-hike sell-off (Jan-Jun 2022)</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b="1" dirty="0">
                          <a:solidFill>
                            <a:schemeClr val="tx1"/>
                          </a:solidFill>
                        </a:rPr>
                        <a:t>−12.3%</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dirty="0">
                          <a:solidFill>
                            <a:schemeClr val="tx1"/>
                          </a:solidFill>
                        </a:rPr>
                        <a:t>−16.1%</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566928">
                <a:tc>
                  <a:txBody>
                    <a:bodyPr/>
                    <a:lstStyle/>
                    <a:p>
                      <a:pPr algn="l" indent="0" marL="0">
                        <a:buNone/>
                      </a:pPr>
                      <a:r>
                        <a:rPr lang="en-US" sz="1200" dirty="0">
                          <a:solidFill>
                            <a:schemeClr val="tx1"/>
                          </a:solidFill>
                        </a:rPr>
                        <a:t>Election-result shock (4 Jun 2024)</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b="1" dirty="0">
                          <a:solidFill>
                            <a:schemeClr val="tx1"/>
                          </a:solidFill>
                        </a:rPr>
                        <a:t>−2.3%</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dirty="0">
                          <a:solidFill>
                            <a:schemeClr val="tx1"/>
                          </a:solidFill>
                        </a:rPr>
                        <a:t>−5.9%</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566928">
                <a:tc>
                  <a:txBody>
                    <a:bodyPr/>
                    <a:lstStyle/>
                    <a:p>
                      <a:pPr algn="l" indent="0" marL="0">
                        <a:buNone/>
                      </a:pPr>
                      <a:r>
                        <a:rPr lang="en-US" sz="1200" dirty="0">
                          <a:solidFill>
                            <a:schemeClr val="tx1"/>
                          </a:solidFill>
                        </a:rPr>
                        <a:t>2026 drawdown (02 Jan 2026 to 13 Oct 2026)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b="1" dirty="0">
                          <a:solidFill>
                            <a:schemeClr val="tx1"/>
                          </a:solidFill>
                        </a:rPr>
                        <a:t>−5.1%</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dirty="0">
                          <a:solidFill>
                            <a:schemeClr val="tx1"/>
                          </a:solidFill>
                        </a:rPr>
                        <a:t>−13.7%</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bl>
          </a:graphicData>
        </a:graphic>
      </p:graphicFrame>
      <p:sp>
        <p:nvSpPr>
          <p:cNvPr id="14" name="Text 10"/>
          <p:cNvSpPr txBox="1"/>
          <p:nvPr/>
        </p:nvSpPr>
        <p:spPr>
          <a:xfrm>
            <a:off x="7589520" y="5394960"/>
            <a:ext cx="4050792" cy="548640"/>
          </a:xfrm>
          <a:prstGeom prst="rect">
            <a:avLst/>
          </a:prstGeom>
          <a:noFill/>
          <a:ln/>
        </p:spPr>
        <p:txBody>
          <a:bodyPr wrap="square" lIns="0" tIns="0" rIns="0" bIns="0" rtlCol="0" anchor="t"/>
          <a:lstStyle/>
          <a:p>
            <a:pPr indent="0" marL="0">
              <a:buNone/>
            </a:pPr>
            <a:r>
              <a:rPr lang="en-US" sz="1400" b="1" dirty="0">
                <a:solidFill>
                  <a:schemeClr val="tx1"/>
                </a:solidFill>
              </a:rPr>
              <a:t>Our portfolio fell less than the Nifty in 4 of 4 episodes.</a:t>
            </a: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APPENDIX A3 - DEMO BACKUP</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bg1"/>
                </a:solidFill>
              </a:rPr>
              <a:t>THE DASHBOARD, IF THE DEMO FAILS</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bg2"/>
                </a:solidFill>
              </a:rPr>
              <a:t>Rung 4 of the backup ladder: the same screens as the live demo.</a:t>
            </a:r>
            <a:endParaRPr lang="en-US" sz="1400" dirty="0"/>
          </a:p>
        </p:txBody>
      </p:sp>
      <p:sp>
        <p:nvSpPr>
          <p:cNvPr id="5" name="Shape 3"/>
          <p:cNvSpPr/>
          <p:nvPr/>
        </p:nvSpPr>
        <p:spPr>
          <a:xfrm>
            <a:off x="521208" y="2511362"/>
            <a:ext cx="3648456" cy="2201037"/>
          </a:xfrm>
          <a:prstGeom prst="rect">
            <a:avLst/>
          </a:prstGeom>
          <a:solidFill>
            <a:schemeClr val="accent5"/>
          </a:solidFill>
          <a:ln w="12700">
            <a:solidFill>
              <a:schemeClr val="accent5"/>
            </a:solidFill>
            <a:prstDash val="solid"/>
          </a:ln>
        </p:spPr>
      </p:sp>
      <p:pic>
        <p:nvPicPr>
          <p:cNvPr id="6" name="backup-1" descr="C:\Users\abhay.ABHAYSLAPTOP\Desktop\year 3\sem 5\Security_Analysis\sa-portfolio\deliverables\assets\dash_quiz.png">    </p:cNvPr>
          <p:cNvPicPr>
            <a:picLocks noChangeAspect="1"/>
          </p:cNvPicPr>
          <p:nvPr/>
        </p:nvPicPr>
        <p:blipFill>
          <a:blip r:embed="rId1"/>
          <a:stretch>
            <a:fillRect/>
          </a:stretch>
        </p:blipFill>
        <p:spPr>
          <a:xfrm>
            <a:off x="548640" y="2538794"/>
            <a:ext cx="3593592" cy="2146173"/>
          </a:xfrm>
          <a:prstGeom prst="rect">
            <a:avLst/>
          </a:prstGeom>
        </p:spPr>
      </p:pic>
      <p:sp>
        <p:nvSpPr>
          <p:cNvPr id="7" name="Text 4"/>
          <p:cNvSpPr txBox="1"/>
          <p:nvPr/>
        </p:nvSpPr>
        <p:spPr>
          <a:xfrm>
            <a:off x="548640" y="4983480"/>
            <a:ext cx="3593592" cy="274320"/>
          </a:xfrm>
          <a:prstGeom prst="rect">
            <a:avLst/>
          </a:prstGeom>
          <a:noFill/>
          <a:ln/>
        </p:spPr>
        <p:txBody>
          <a:bodyPr wrap="square" lIns="0" tIns="0" rIns="0" bIns="0" rtlCol="0" anchor="t"/>
          <a:lstStyle/>
          <a:p>
            <a:pPr indent="0" marL="0">
              <a:buNone/>
            </a:pPr>
            <a:r>
              <a:rPr lang="en-US" sz="1000" b="1" spc="100" kern="0" dirty="0">
                <a:solidFill>
                  <a:schemeClr val="accent2"/>
                </a:solidFill>
              </a:rPr>
              <a:t>STEP 1: RISK QUESTIONNAIRE</a:t>
            </a:r>
            <a:endParaRPr lang="en-US" sz="1000" dirty="0"/>
          </a:p>
        </p:txBody>
      </p:sp>
      <p:sp>
        <p:nvSpPr>
          <p:cNvPr id="8" name="Shape 5"/>
          <p:cNvSpPr/>
          <p:nvPr/>
        </p:nvSpPr>
        <p:spPr>
          <a:xfrm>
            <a:off x="4270248" y="2511362"/>
            <a:ext cx="3648456" cy="2201037"/>
          </a:xfrm>
          <a:prstGeom prst="rect">
            <a:avLst/>
          </a:prstGeom>
          <a:solidFill>
            <a:schemeClr val="accent5"/>
          </a:solidFill>
          <a:ln w="12700">
            <a:solidFill>
              <a:schemeClr val="accent5"/>
            </a:solidFill>
            <a:prstDash val="solid"/>
          </a:ln>
        </p:spPr>
      </p:sp>
      <p:pic>
        <p:nvPicPr>
          <p:cNvPr id="9" name="backup-2" descr="C:\Users\abhay.ABHAYSLAPTOP\Desktop\year 3\sem 5\Security_Analysis\sa-portfolio\deliverables\assets\dash_portfolio.png">    </p:cNvPr>
          <p:cNvPicPr>
            <a:picLocks noChangeAspect="1"/>
          </p:cNvPicPr>
          <p:nvPr/>
        </p:nvPicPr>
        <p:blipFill>
          <a:blip r:embed="rId2"/>
          <a:stretch>
            <a:fillRect/>
          </a:stretch>
        </p:blipFill>
        <p:spPr>
          <a:xfrm>
            <a:off x="4297680" y="2538794"/>
            <a:ext cx="3593592" cy="2146173"/>
          </a:xfrm>
          <a:prstGeom prst="rect">
            <a:avLst/>
          </a:prstGeom>
        </p:spPr>
      </p:pic>
      <p:sp>
        <p:nvSpPr>
          <p:cNvPr id="10" name="Text 6"/>
          <p:cNvSpPr txBox="1"/>
          <p:nvPr/>
        </p:nvSpPr>
        <p:spPr>
          <a:xfrm>
            <a:off x="4297680" y="4983480"/>
            <a:ext cx="3593592" cy="274320"/>
          </a:xfrm>
          <a:prstGeom prst="rect">
            <a:avLst/>
          </a:prstGeom>
          <a:noFill/>
          <a:ln/>
        </p:spPr>
        <p:txBody>
          <a:bodyPr wrap="square" lIns="0" tIns="0" rIns="0" bIns="0" rtlCol="0" anchor="t"/>
          <a:lstStyle/>
          <a:p>
            <a:pPr indent="0" marL="0">
              <a:buNone/>
            </a:pPr>
            <a:r>
              <a:rPr lang="en-US" sz="1000" b="1" spc="100" kern="0" dirty="0">
                <a:solidFill>
                  <a:schemeClr val="accent2"/>
                </a:solidFill>
              </a:rPr>
              <a:t>YOUR PORTFOLIO IN RUPEES</a:t>
            </a:r>
            <a:endParaRPr lang="en-US" sz="1000" dirty="0"/>
          </a:p>
        </p:txBody>
      </p:sp>
      <p:sp>
        <p:nvSpPr>
          <p:cNvPr id="11" name="Shape 7"/>
          <p:cNvSpPr/>
          <p:nvPr/>
        </p:nvSpPr>
        <p:spPr>
          <a:xfrm>
            <a:off x="8019288" y="2511362"/>
            <a:ext cx="3648456" cy="2201037"/>
          </a:xfrm>
          <a:prstGeom prst="rect">
            <a:avLst/>
          </a:prstGeom>
          <a:solidFill>
            <a:schemeClr val="accent5"/>
          </a:solidFill>
          <a:ln w="12700">
            <a:solidFill>
              <a:schemeClr val="accent5"/>
            </a:solidFill>
            <a:prstDash val="solid"/>
          </a:ln>
        </p:spPr>
      </p:sp>
      <p:pic>
        <p:nvPicPr>
          <p:cNvPr id="12" name="backup-3" descr="C:\Users\abhay.ABHAYSLAPTOP\Desktop\year 3\sem 5\Security_Analysis\sa-portfolio\deliverables\assets\dash_risk.png">    </p:cNvPr>
          <p:cNvPicPr>
            <a:picLocks noChangeAspect="1"/>
          </p:cNvPicPr>
          <p:nvPr/>
        </p:nvPicPr>
        <p:blipFill>
          <a:blip r:embed="rId3"/>
          <a:stretch>
            <a:fillRect/>
          </a:stretch>
        </p:blipFill>
        <p:spPr>
          <a:xfrm>
            <a:off x="8046720" y="2538794"/>
            <a:ext cx="3593592" cy="2146173"/>
          </a:xfrm>
          <a:prstGeom prst="rect">
            <a:avLst/>
          </a:prstGeom>
        </p:spPr>
      </p:pic>
      <p:sp>
        <p:nvSpPr>
          <p:cNvPr id="13" name="Text 8"/>
          <p:cNvSpPr txBox="1"/>
          <p:nvPr/>
        </p:nvSpPr>
        <p:spPr>
          <a:xfrm>
            <a:off x="8046720" y="4983480"/>
            <a:ext cx="3593592" cy="274320"/>
          </a:xfrm>
          <a:prstGeom prst="rect">
            <a:avLst/>
          </a:prstGeom>
          <a:noFill/>
          <a:ln/>
        </p:spPr>
        <p:txBody>
          <a:bodyPr wrap="square" lIns="0" tIns="0" rIns="0" bIns="0" rtlCol="0" anchor="t"/>
          <a:lstStyle/>
          <a:p>
            <a:pPr indent="0" marL="0">
              <a:buNone/>
            </a:pPr>
            <a:r>
              <a:rPr lang="en-US" sz="1000" b="1" spc="100" kern="0" dirty="0">
                <a:solidFill>
                  <a:schemeClr val="accent2"/>
                </a:solidFill>
              </a:rPr>
              <a:t>RISK: HEATMAPS AND STRESS</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APPENDIX A4 - SOURCES</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bg1"/>
                </a:solidFill>
              </a:rPr>
              <a:t>DATA SOURCES AND AI PROMPTS</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bg2"/>
                </a:solidFill>
              </a:rPr>
              <a:t>Free and public sources only; every AI prompt is saved with its output.</a:t>
            </a:r>
            <a:endParaRPr lang="en-US" sz="1400" dirty="0"/>
          </a:p>
        </p:txBody>
      </p:sp>
      <p:sp>
        <p:nvSpPr>
          <p:cNvPr id="5" name="Text 3"/>
          <p:cNvSpPr txBox="1"/>
          <p:nvPr/>
        </p:nvSpPr>
        <p:spPr>
          <a:xfrm>
            <a:off x="548640" y="2331720"/>
            <a:ext cx="539496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DATA</a:t>
            </a:r>
            <a:endParaRPr lang="en-US" sz="1000" dirty="0"/>
          </a:p>
        </p:txBody>
      </p:sp>
      <p:sp>
        <p:nvSpPr>
          <p:cNvPr id="6" name="Text 4"/>
          <p:cNvSpPr txBox="1"/>
          <p:nvPr/>
        </p:nvSpPr>
        <p:spPr>
          <a:xfrm>
            <a:off x="548640" y="2697480"/>
            <a:ext cx="5394960" cy="3474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Prices, statements, analyst consensus: Yahoo Finance (yfinance)</a:t>
            </a:r>
            <a:endParaRPr lang="en-US" sz="1200" dirty="0"/>
          </a:p>
          <a:p>
            <a:pPr marL="342900" indent="-342900">
              <a:spcAft>
                <a:spcPts val="600"/>
              </a:spcAft>
              <a:buSzPct val="100000"/>
              <a:buChar char="•"/>
            </a:pPr>
            <a:r>
              <a:rPr lang="en-US" sz="1200" dirty="0">
                <a:solidFill>
                  <a:schemeClr val="bg1"/>
                </a:solidFill>
              </a:rPr>
              <a:t>Ten-year financials: Screener.in public pages</a:t>
            </a:r>
            <a:endParaRPr lang="en-US" sz="1200" dirty="0"/>
          </a:p>
          <a:p>
            <a:pPr marL="342900" indent="-342900">
              <a:spcAft>
                <a:spcPts val="600"/>
              </a:spcAft>
              <a:buSzPct val="100000"/>
              <a:buChar char="•"/>
            </a:pPr>
            <a:r>
              <a:rPr lang="en-US" sz="1200" dirty="0">
                <a:solidFill>
                  <a:schemeClr val="bg1"/>
                </a:solidFill>
              </a:rPr>
              <a:t>Annual reports and earnings-call transcripts: BSE filings and company IR sites</a:t>
            </a:r>
            <a:endParaRPr lang="en-US" sz="1200" dirty="0"/>
          </a:p>
          <a:p>
            <a:pPr marL="342900" indent="-342900">
              <a:spcAft>
                <a:spcPts val="600"/>
              </a:spcAft>
              <a:buSzPct val="100000"/>
              <a:buChar char="•"/>
            </a:pPr>
            <a:r>
              <a:rPr lang="en-US" sz="1200" dirty="0">
                <a:solidFill>
                  <a:schemeClr val="bg1"/>
                </a:solidFill>
              </a:rPr>
              <a:t>Risk-free rate and repo rate: Reserve Bank of India</a:t>
            </a:r>
            <a:endParaRPr lang="en-US" sz="1200" dirty="0"/>
          </a:p>
          <a:p>
            <a:pPr marL="342900" indent="-342900">
              <a:spcAft>
                <a:spcPts val="600"/>
              </a:spcAft>
              <a:buSzPct val="100000"/>
              <a:buChar char="•"/>
            </a:pPr>
            <a:r>
              <a:rPr lang="en-US" sz="1200" dirty="0">
                <a:solidFill>
                  <a:schemeClr val="bg1"/>
                </a:solidFill>
              </a:rPr>
              <a:t>GDP and demand mix: MOSPI press note, 31 Aug 2026</a:t>
            </a:r>
            <a:endParaRPr lang="en-US" sz="1200" dirty="0"/>
          </a:p>
          <a:p>
            <a:pPr marL="342900" indent="-342900">
              <a:spcAft>
                <a:spcPts val="600"/>
              </a:spcAft>
              <a:buSzPct val="100000"/>
              <a:buChar char="•"/>
            </a:pPr>
            <a:r>
              <a:rPr lang="en-US" sz="1200" dirty="0">
                <a:solidFill>
                  <a:schemeClr val="bg1"/>
                </a:solidFill>
              </a:rPr>
              <a:t>Equity risk premium: Damodaran, India, Jan 2026</a:t>
            </a:r>
            <a:endParaRPr lang="en-US" sz="1200" dirty="0"/>
          </a:p>
          <a:p>
            <a:pPr marL="342900" indent="-342900">
              <a:spcAft>
                <a:spcPts val="600"/>
              </a:spcAft>
              <a:buSzPct val="100000"/>
              <a:buChar char="•"/>
            </a:pPr>
            <a:r>
              <a:rPr lang="en-US" sz="1200" dirty="0">
                <a:solidFill>
                  <a:schemeClr val="bg1"/>
                </a:solidFill>
              </a:rPr>
              <a:t>Headlines: Google News RSS, 12 months</a:t>
            </a:r>
            <a:endParaRPr lang="en-US" sz="1200" dirty="0"/>
          </a:p>
          <a:p>
            <a:pPr marL="342900" indent="-342900">
              <a:spcAft>
                <a:spcPts val="600"/>
              </a:spcAft>
              <a:buSzPct val="100000"/>
              <a:buChar char="•"/>
            </a:pPr>
            <a:r>
              <a:rPr lang="en-US" sz="1200" dirty="0">
                <a:solidFill>
                  <a:schemeClr val="bg1"/>
                </a:solidFill>
              </a:rPr>
              <a:t>Sector momentum: Zerodha Aftermarket Report, 12 Oct 2026</a:t>
            </a:r>
            <a:endParaRPr lang="en-US" sz="1200" dirty="0"/>
          </a:p>
        </p:txBody>
      </p:sp>
      <p:sp>
        <p:nvSpPr>
          <p:cNvPr id="7" name="Text 5"/>
          <p:cNvSpPr txBox="1"/>
          <p:nvPr/>
        </p:nvSpPr>
        <p:spPr>
          <a:xfrm>
            <a:off x="6245352" y="2331720"/>
            <a:ext cx="539496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AI AND METHOD</a:t>
            </a:r>
            <a:endParaRPr lang="en-US" sz="1000" dirty="0"/>
          </a:p>
        </p:txBody>
      </p:sp>
      <p:sp>
        <p:nvSpPr>
          <p:cNvPr id="8" name="Text 6"/>
          <p:cNvSpPr txBox="1"/>
          <p:nvPr/>
        </p:nvSpPr>
        <p:spPr>
          <a:xfrm>
            <a:off x="6245352" y="2697480"/>
            <a:ext cx="5394960" cy="3474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FinBERT: ProsusAI/finbert (Hugging Face)</a:t>
            </a:r>
            <a:endParaRPr lang="en-US" sz="1200" dirty="0"/>
          </a:p>
          <a:p>
            <a:pPr marL="342900" indent="-342900">
              <a:spcAft>
                <a:spcPts val="600"/>
              </a:spcAft>
              <a:buSzPct val="100000"/>
              <a:buChar char="•"/>
            </a:pPr>
            <a:r>
              <a:rPr lang="en-US" sz="1200" dirty="0">
                <a:solidFill>
                  <a:schemeClr val="bg1"/>
                </a:solidFill>
              </a:rPr>
              <a:t>Claude (Anthropic): ratio extraction, concall aspects, headline tagging</a:t>
            </a:r>
            <a:endParaRPr lang="en-US" sz="1200" dirty="0"/>
          </a:p>
          <a:p>
            <a:pPr marL="342900" indent="-342900">
              <a:spcAft>
                <a:spcPts val="600"/>
              </a:spcAft>
              <a:buSzPct val="100000"/>
              <a:buChar char="•"/>
            </a:pPr>
            <a:r>
              <a:rPr lang="en-US" sz="1200" dirty="0">
                <a:solidFill>
                  <a:schemeClr val="bg1"/>
                </a:solidFill>
              </a:rPr>
              <a:t>Prompts P1–P5 and outputs: docs/ai_prompts.md, data/ai/</a:t>
            </a:r>
            <a:endParaRPr lang="en-US" sz="1200" dirty="0"/>
          </a:p>
          <a:p>
            <a:pPr marL="342900" indent="-342900">
              <a:spcAft>
                <a:spcPts val="600"/>
              </a:spcAft>
              <a:buSzPct val="100000"/>
              <a:buChar char="•"/>
            </a:pPr>
            <a:r>
              <a:rPr lang="en-US" sz="1200" dirty="0">
                <a:solidFill>
                  <a:schemeClr val="bg1"/>
                </a:solidFill>
              </a:rPr>
              <a:t>Bodie, Kane &amp; Marcus, Investments: Ch 6, 7, 12, 17, 18, 24</a:t>
            </a:r>
            <a:endParaRPr lang="en-US" sz="1200" dirty="0"/>
          </a:p>
          <a:p>
            <a:pPr marL="342900" indent="-342900">
              <a:spcAft>
                <a:spcPts val="600"/>
              </a:spcAft>
              <a:buSzPct val="100000"/>
              <a:buChar char="•"/>
            </a:pPr>
            <a:r>
              <a:rPr lang="en-US" sz="1200" dirty="0">
                <a:solidFill>
                  <a:schemeClr val="bg1"/>
                </a:solidFill>
              </a:rPr>
              <a:t>Valuation workbook: workbook/valuation.xlsx (live formulas)</a:t>
            </a:r>
            <a:endParaRPr lang="en-US" sz="1200" dirty="0"/>
          </a:p>
          <a:p>
            <a:pPr marL="342900" indent="-342900">
              <a:spcAft>
                <a:spcPts val="600"/>
              </a:spcAft>
              <a:buSzPct val="100000"/>
              <a:buChar char="•"/>
            </a:pPr>
            <a:r>
              <a:rPr lang="en-US" sz="1200" dirty="0">
                <a:solidFill>
                  <a:schemeClr val="bg1"/>
                </a:solidFill>
              </a:rPr>
              <a:t>Code, tests and the nightly refresh: GitHub repository</a:t>
            </a:r>
            <a:endParaRPr lang="en-US" sz="12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SA Portfolio">
  <a:themeElements>
    <a:clrScheme name="SA Portfolio">
      <a:dk1>
        <a:srgbClr val="1D2C62"/>
      </a:dk1>
      <a:lt1>
        <a:srgbClr val="FFFFFF"/>
      </a:lt1>
      <a:dk2>
        <a:srgbClr val="5A6590"/>
      </a:dk2>
      <a:lt2>
        <a:srgbClr val="FFFAED"/>
      </a:lt2>
      <a:accent1>
        <a:srgbClr val="C84D00"/>
      </a:accent1>
      <a:accent2>
        <a:srgbClr val="EBB24D"/>
      </a:accent2>
      <a:accent3>
        <a:srgbClr val="3A7C74"/>
      </a:accent3>
      <a:accent4>
        <a:srgbClr val="B95142"/>
      </a:accent4>
      <a:accent5>
        <a:srgbClr val="D9CBB0"/>
      </a:accent5>
      <a:accent6>
        <a:srgbClr val="EADFC8"/>
      </a:accent6>
      <a:hlink>
        <a:srgbClr val="C84D00"/>
      </a:hlink>
      <a:folHlink>
        <a:srgbClr val="5A6590"/>
      </a:folHlink>
    </a:clrScheme>
    <a:fontScheme name="SA Portfolio">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TAPMI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HUL, Sun Pharma and ICICI Bank: an AI-augmented security analysis</dc:title>
  <dc:subject>Security Analysis (BBAT35F97) group project</dc:subject>
  <dc:creator>TAPMI BBA(H) Semester V</dc:creator>
  <cp:lastModifiedBy>TAPMI BBA(H) Semester V</cp:lastModifiedBy>
  <cp:revision>1</cp:revision>
  <dcterms:created xsi:type="dcterms:W3CDTF">2026-10-14T12:46:32Z</dcterms:created>
  <dcterms:modified xsi:type="dcterms:W3CDTF">2026-10-14T12:46:32Z</dcterms:modified>
</cp:coreProperties>
</file>